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346" r:id="rId3"/>
    <p:sldId id="345" r:id="rId4"/>
    <p:sldId id="347" r:id="rId5"/>
    <p:sldId id="349" r:id="rId6"/>
    <p:sldId id="350" r:id="rId7"/>
    <p:sldId id="351" r:id="rId8"/>
    <p:sldId id="352" r:id="rId9"/>
    <p:sldId id="353" r:id="rId10"/>
    <p:sldId id="354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A3595-D280-4A0D-9988-9EA49C95F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8FDA1-E5E8-4253-A4E6-0CD47644B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C9DB56-586C-420E-8B3C-8299B0FA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A26E90-36A4-4FFE-BE07-09368510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BC845E-B887-4785-B4B4-F4790380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016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3CF4-463E-4F69-98D8-A9F0BE27A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DC534E-5ED9-40C7-9193-57C3CD783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606266-5C91-4E89-92CE-2FD0F64B9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DB2669-C6C1-49D3-9E58-BCEC8D78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526089-E024-4D26-9000-4D7302FF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751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A6124-18EA-4484-AFE5-EF2B5D09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AD55FE-D99E-40EE-992D-01423FA3F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5C2933-EDEB-48E1-AE21-771A6BB6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5CBF05-A98A-4E2E-A714-777CF680A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16B26B-6491-42E1-B407-FA004A96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364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1F306-A33F-48FE-B6E3-4F8B97523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EC1991-E2DC-47AF-BB3A-98B3A32C5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3E1C43-72B6-4053-943A-DE335E3FA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843855-5B48-458F-872B-7FF5CE904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C4F48D-9FDE-478A-BA7E-7683C771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04B02E-9B99-4499-ADEE-37FD162F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941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4E75C-32C8-44D2-8AA1-28E686FEC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CCB050-8F3C-450C-AA60-E7E5E9476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6C04BB-F0F9-47B0-B8E3-B12037CD2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AB6CD0-740F-4F2D-9449-52DEFBF89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1A32471-9780-4185-9B52-5816C8CC8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874B27E-72C3-4F50-80FB-13380997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206646-B103-49C1-AF5E-7D146DA50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E9C49CC-758F-4047-9EAC-C667DB3E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961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B3A24-ECA4-4ABF-ABAD-B42AE445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A205861-5FCD-4857-8683-58CD0DBC6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5D106C-7E02-48B6-B668-1420A552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2E5B02-143E-4B39-8C2D-716CA1291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4473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B37B887-6376-490C-BD85-8779F4AB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52D4586-D47A-4F07-90AA-8D9152348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4CD051-DC3B-4B7A-AD5C-8079D9BB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852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DA9C2-2DEA-450A-96D1-41D5441AC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F92D33-7041-4F0A-A003-C777CB395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66FB79-8F8C-4A59-ABED-B4119790C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F460DE-58E7-4093-A5DC-E84A74A65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27A1B3-2C3D-4ED3-A7B4-D3E7653A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2CBFCB-D336-4672-B19C-AF6DEF1E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862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7BD7C-6659-4553-8BFB-2B62EC53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503AC9-7241-4CB5-873D-322D64AC1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6FF7BF-6BDC-4B7D-8D39-8194433C3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419A63-FD20-4014-9265-31370AB5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B9065C-D0F1-4356-B9FE-C93FFBE5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24BBBE-C538-4E03-8CE4-D8B0A3D2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146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278FA-6331-4F43-AE90-AF77D870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195476-6356-4730-8B64-F38FBD821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B047FB-C57E-42E4-8DDA-D8B64434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9D9CEF-B8BC-48AF-A2B1-8A135B5A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2E9424-27F0-4D42-B476-F0BB4C50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5183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C505B-FBCB-4DC6-BD42-6DDB41944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4A7345-5C43-41EB-BBFF-2E0EFC6E2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C3B38D-1118-496B-A0BC-DE33AD89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FECF1D-60DD-48C5-8DDF-17954256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AAB894-D435-480D-898A-AB8F03AE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8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19CA5C-03D3-46B5-A860-59835DD5E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3497B5-7F32-4244-9297-36F11F28A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719609-C167-43E3-BCBA-95E5634D1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A4E284-E64C-4476-A0B6-68F07F59B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5B1383-4B51-4011-B462-FFC05FA93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770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Introducción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¿Qué es Orquestación de Contenedores?</a:t>
            </a:r>
            <a:endParaRPr lang="es-ES" dirty="0"/>
          </a:p>
          <a:p>
            <a:br>
              <a:rPr lang="es-ES" dirty="0"/>
            </a:br>
            <a:r>
              <a:rPr lang="es-ES" dirty="0"/>
              <a:t>Gestionar aplicaciones en contenedores sin orquestación es terrible.</a:t>
            </a:r>
          </a:p>
          <a:p>
            <a:endParaRPr lang="es-ES" dirty="0"/>
          </a:p>
          <a:p>
            <a:r>
              <a:rPr lang="es-ES" dirty="0"/>
              <a:t>Sin un sistema de orquestación nuestro equipo de operaciones va a pedir la renuncia muy rápido. </a:t>
            </a:r>
          </a:p>
          <a:p>
            <a:r>
              <a:rPr lang="es-ES" dirty="0"/>
              <a:t>Nadie quiere o puede gestionar manualmente las duras actividades de un orquestador: montaje de máquinas, inicializar contenedores, reemplazar contenedores fallidos, enlazar contenedores unos con otros, exponer servicios a máquinas por fuera del cluster, escalar o desescalar contenedores para suplir la demanda, o organizar despliegues de código sin afectar la disponibilidad del servicio. Es agotador, frustrante, limitante y muy dispendioso.</a:t>
            </a:r>
          </a:p>
          <a:p>
            <a:endParaRPr lang="es-ES" dirty="0"/>
          </a:p>
          <a:p>
            <a:r>
              <a:rPr lang="es-ES" dirty="0"/>
              <a:t>La orquestación de contenedores hace todas estas cosas por medio de automatización de infraestructura. </a:t>
            </a:r>
            <a:r>
              <a:rPr lang="es-ES" b="1" dirty="0"/>
              <a:t>El gran beneficio de la orquestación es aprovechar al máximo tareas automatizadas y procesos ya definidos</a:t>
            </a:r>
            <a:r>
              <a:rPr lang="es-ES" dirty="0"/>
              <a:t>. </a:t>
            </a:r>
          </a:p>
          <a:p>
            <a:r>
              <a:rPr lang="es-ES" dirty="0"/>
              <a:t>La orquestación permite gestionar infraestructura muy compleja de manera simple.</a:t>
            </a:r>
          </a:p>
          <a:p>
            <a:r>
              <a:rPr lang="es-ES" dirty="0"/>
              <a:t>Como el reto de orquestación requiere herramientas de fácil instalación, configuración y mantenimiento, Kubernetes se creó para suplir esa necesidad.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66728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Introducción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/>
              <a:t>Comparativa de Orquestadores</a:t>
            </a:r>
          </a:p>
          <a:p>
            <a:pPr fontAlgn="base"/>
            <a:r>
              <a:rPr lang="es-ES" dirty="0"/>
              <a:t>Vamos ya con el análisis de los 3 orquestadores OpenSource más comunes: Docker Swarm, </a:t>
            </a:r>
            <a:r>
              <a:rPr lang="es-ES" b="1" dirty="0"/>
              <a:t>Kubernetes</a:t>
            </a:r>
            <a:r>
              <a:rPr lang="es-ES" dirty="0"/>
              <a:t> y Apache Mesos.</a:t>
            </a:r>
          </a:p>
          <a:p>
            <a:endParaRPr lang="es-ES" dirty="0"/>
          </a:p>
          <a:p>
            <a:pPr marL="342900" indent="-342900" fontAlgn="base">
              <a:buFont typeface="+mj-lt"/>
              <a:buAutoNum type="arabicPeriod"/>
            </a:pPr>
            <a:r>
              <a:rPr lang="es-ES" b="1" dirty="0"/>
              <a:t>Docker Swarm</a:t>
            </a:r>
          </a:p>
          <a:p>
            <a:pPr marL="342900" indent="-342900" fontAlgn="base">
              <a:buFont typeface="+mj-lt"/>
              <a:buAutoNum type="arabicPeriod"/>
            </a:pPr>
            <a:endParaRPr lang="es-ES" b="1" dirty="0"/>
          </a:p>
          <a:p>
            <a:pPr fontAlgn="base"/>
            <a:r>
              <a:rPr lang="es-ES" dirty="0"/>
              <a:t>Docker Swarm es el mecanismo de orquestación </a:t>
            </a:r>
            <a:r>
              <a:rPr lang="es-ES" b="1" dirty="0"/>
              <a:t>propio de Docker</a:t>
            </a:r>
            <a:r>
              <a:rPr lang="es-ES" dirty="0"/>
              <a:t> y está </a:t>
            </a:r>
            <a:r>
              <a:rPr lang="es-ES" b="1" dirty="0"/>
              <a:t>completamente integrado con la API Docker Engine</a:t>
            </a:r>
            <a:r>
              <a:rPr lang="es-ES" dirty="0"/>
              <a:t>. </a:t>
            </a:r>
          </a:p>
          <a:p>
            <a:pPr fontAlgn="base"/>
            <a:r>
              <a:rPr lang="es-ES" dirty="0"/>
              <a:t>Esto hace que a cualquier persona que conozca Docker le sea muy sencillo empezar a usar Docker Swarm.</a:t>
            </a:r>
          </a:p>
          <a:p>
            <a:pPr fontAlgn="base"/>
            <a:r>
              <a:rPr lang="es-ES" dirty="0"/>
              <a:t>Este orquestador está </a:t>
            </a:r>
            <a:r>
              <a:rPr lang="es-ES" b="1" dirty="0"/>
              <a:t>soportado por AWS, de ahí su valor distribuido</a:t>
            </a:r>
            <a:r>
              <a:rPr lang="es-ES" dirty="0"/>
              <a:t>, y está basado en una arquitectura de controlador y nodos, donde un nodo es un cluster o instancia de swarm.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Está formado por dos tipos de </a:t>
            </a:r>
            <a:r>
              <a:rPr lang="es-ES" b="1" dirty="0"/>
              <a:t>elementos principales</a:t>
            </a:r>
            <a:r>
              <a:rPr lang="es-ES" dirty="0"/>
              <a:t>: </a:t>
            </a:r>
            <a:r>
              <a:rPr lang="es-ES" b="1" dirty="0"/>
              <a:t>los managers y los workers</a:t>
            </a:r>
            <a:r>
              <a:rPr lang="es-ES" dirty="0"/>
              <a:t>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Los diferentes Managers se organizan entre sí para que uno de ellos sea el líder, asignando tareas a los workers. Un </a:t>
            </a:r>
          </a:p>
          <a:p>
            <a:pPr fontAlgn="base"/>
            <a:r>
              <a:rPr lang="es-ES" dirty="0"/>
              <a:t>mánager puede también funcionar como worker si el sistema lo requiere.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90111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Introducción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/>
              <a:t>Comparativa de Orquestadores</a:t>
            </a:r>
          </a:p>
          <a:p>
            <a:endParaRPr lang="es-ES" dirty="0"/>
          </a:p>
          <a:p>
            <a:pPr marL="342900" indent="-342900" fontAlgn="base">
              <a:buFont typeface="+mj-lt"/>
              <a:buAutoNum type="arabicPeriod"/>
            </a:pPr>
            <a:r>
              <a:rPr lang="es-ES" b="1" dirty="0"/>
              <a:t>Docker Swarm</a:t>
            </a:r>
          </a:p>
          <a:p>
            <a:pPr marL="342900" indent="-342900" fontAlgn="base">
              <a:buFont typeface="+mj-lt"/>
              <a:buAutoNum type="arabicPeriod"/>
            </a:pPr>
            <a:endParaRPr lang="es-ES" b="1" dirty="0"/>
          </a:p>
          <a:p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59FB95-1AA7-45B2-B83E-F1FB1B889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91" y="2373912"/>
            <a:ext cx="6494993" cy="448408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2DBB51C-80A9-48CB-B6F8-F58D27E3DC3A}"/>
              </a:ext>
            </a:extLst>
          </p:cNvPr>
          <p:cNvSpPr txBox="1"/>
          <p:nvPr/>
        </p:nvSpPr>
        <p:spPr>
          <a:xfrm>
            <a:off x="7566211" y="2024199"/>
            <a:ext cx="45092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dirty="0"/>
              <a:t>En un cluster Docker Swarm se crean servicios a partir de una imagen y una configuración, y estos servicios se distribuyen en el cluster como tareas.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Los </a:t>
            </a:r>
            <a:r>
              <a:rPr lang="es-ES" b="1" dirty="0"/>
              <a:t>servicios </a:t>
            </a:r>
            <a:r>
              <a:rPr lang="es-ES" dirty="0"/>
              <a:t>pueden ser replicados y globales: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Servicios </a:t>
            </a:r>
            <a:r>
              <a:rPr lang="es-ES" b="1" dirty="0"/>
              <a:t>replica</a:t>
            </a:r>
            <a:r>
              <a:rPr lang="es-ES" dirty="0"/>
              <a:t>: es necesario indicar el número de réplicas que deben tener, proporcionando un buen servicio de escalado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Servicios </a:t>
            </a:r>
            <a:r>
              <a:rPr lang="es-ES" b="1" dirty="0"/>
              <a:t>globales</a:t>
            </a:r>
            <a:r>
              <a:rPr lang="es-ES" dirty="0"/>
              <a:t>: se creará una tarea por cada worker del cluster.</a:t>
            </a:r>
          </a:p>
        </p:txBody>
      </p:sp>
    </p:spTree>
    <p:extLst>
      <p:ext uri="{BB962C8B-B14F-4D97-AF65-F5344CB8AC3E}">
        <p14:creationId xmlns:p14="http://schemas.microsoft.com/office/powerpoint/2010/main" val="3154498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Introducción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/>
              <a:t>Comparativa de Orquestadores</a:t>
            </a:r>
          </a:p>
          <a:p>
            <a:pPr fontAlgn="base"/>
            <a:endParaRPr lang="es-ES" b="1" dirty="0"/>
          </a:p>
          <a:p>
            <a:pPr fontAlgn="base"/>
            <a:r>
              <a:rPr lang="es-ES" dirty="0"/>
              <a:t>El nodo Manager de Swarm también se encarga de asegurar el estado del cluster y de notificar si las tareas se están ejecutando correctamente. Si un nodo entra en estado de mantenimiento, el nodo manager puede crear nuevas tareas y redistribuir la carga entre el resto de los nodos asegurando una alta disponibilidad.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El nodo Manager gestionará los recursos, Nombres DNS, dirección IP, cantidad de contenedores corriendo, parará y arrancará lo que le indiquemos, podrá balancear los Contenedores en los workers, agrega o quita contenedores y gestionará los denominados “servicios”.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Como hemos indicado, Docker Swarm utiliza la API de Docker, por lo que los </a:t>
            </a:r>
            <a:r>
              <a:rPr lang="es-ES" b="1" dirty="0"/>
              <a:t>comandos </a:t>
            </a:r>
            <a:r>
              <a:rPr lang="es-ES" dirty="0"/>
              <a:t>a utilizar son los </a:t>
            </a:r>
            <a:r>
              <a:rPr lang="es-ES" b="1" dirty="0"/>
              <a:t>propios de Docker</a:t>
            </a:r>
            <a:r>
              <a:rPr lang="es-ES" dirty="0"/>
              <a:t>, y no permite agregar nuevas operaciones.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Como nota negativa debemos indicar que </a:t>
            </a:r>
            <a:r>
              <a:rPr lang="es-ES" b="1" dirty="0"/>
              <a:t>no dispone de control de fallos</a:t>
            </a:r>
            <a:r>
              <a:rPr lang="es-ES" dirty="0"/>
              <a:t>, y esto en sistemas de alta disponibilidad supone un problema muy peligroso.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4585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Introducción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/>
              <a:t>Comparativa de Orquestadores</a:t>
            </a:r>
          </a:p>
          <a:p>
            <a:endParaRPr lang="es-ES" dirty="0"/>
          </a:p>
          <a:p>
            <a:pPr marL="342900" indent="-342900" fontAlgn="base">
              <a:buFont typeface="+mj-lt"/>
              <a:buAutoNum type="arabicPeriod" startAt="2"/>
            </a:pPr>
            <a:r>
              <a:rPr lang="es-ES" b="1" dirty="0"/>
              <a:t>Apache Mesos</a:t>
            </a:r>
          </a:p>
          <a:p>
            <a:pPr marL="342900" indent="-342900" fontAlgn="base">
              <a:buFont typeface="+mj-lt"/>
              <a:buAutoNum type="arabicPeriod" startAt="2"/>
            </a:pPr>
            <a:endParaRPr lang="es-ES" b="1" dirty="0"/>
          </a:p>
          <a:p>
            <a:pPr fontAlgn="base"/>
            <a:r>
              <a:rPr lang="es-ES" b="1" dirty="0"/>
              <a:t>Apache Mesos</a:t>
            </a:r>
            <a:r>
              <a:rPr lang="es-ES" dirty="0"/>
              <a:t> es un administrador de clusters Opensource</a:t>
            </a:r>
            <a:r>
              <a:rPr lang="es-ES" b="1" dirty="0"/>
              <a:t> basado en el kernel de Linux</a:t>
            </a:r>
            <a:r>
              <a:rPr lang="es-ES" dirty="0"/>
              <a:t>, aunque puede correr en cualquier plataforma (Linux, Windows o OSX)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Proporciona</a:t>
            </a:r>
            <a:r>
              <a:rPr lang="es-ES" b="1" dirty="0"/>
              <a:t> aplicaciones con APIs </a:t>
            </a:r>
            <a:r>
              <a:rPr lang="es-ES" dirty="0"/>
              <a:t>para la </a:t>
            </a:r>
            <a:r>
              <a:rPr lang="es-ES" b="1" dirty="0"/>
              <a:t>gestión y planificación de recursos</a:t>
            </a:r>
            <a:r>
              <a:rPr lang="es-ES" dirty="0"/>
              <a:t>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Mesos permite el uso del </a:t>
            </a:r>
            <a:r>
              <a:rPr lang="es-ES" b="1" dirty="0"/>
              <a:t>cluster para la ejecución de frameworks</a:t>
            </a:r>
            <a:r>
              <a:rPr lang="es-ES" dirty="0"/>
              <a:t> sobre los cuales se ejecutan las aplicaciones, distribuyendo la carga entre distintos servidores y evitando sobrecargas.</a:t>
            </a:r>
          </a:p>
        </p:txBody>
      </p:sp>
    </p:spTree>
    <p:extLst>
      <p:ext uri="{BB962C8B-B14F-4D97-AF65-F5344CB8AC3E}">
        <p14:creationId xmlns:p14="http://schemas.microsoft.com/office/powerpoint/2010/main" val="936623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Introducción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/>
              <a:t>Comparativa de Orquestadores</a:t>
            </a:r>
          </a:p>
          <a:p>
            <a:pPr fontAlgn="base"/>
            <a:endParaRPr lang="es-ES" b="1" dirty="0"/>
          </a:p>
          <a:p>
            <a:pPr marL="342900" indent="-342900" fontAlgn="base">
              <a:buFont typeface="+mj-lt"/>
              <a:buAutoNum type="arabicPeriod" startAt="2"/>
            </a:pPr>
            <a:r>
              <a:rPr lang="es-ES" b="1" dirty="0"/>
              <a:t>Apache Mesos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0439B09-AC20-46A6-84A9-EC773081C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1" y="2199901"/>
            <a:ext cx="997267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84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Introducción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/>
              <a:t>Comparativa de Orquestadores</a:t>
            </a:r>
          </a:p>
          <a:p>
            <a:pPr marL="342900" indent="-342900" fontAlgn="base">
              <a:buFont typeface="+mj-lt"/>
              <a:buAutoNum type="arabicPeriod" startAt="2"/>
            </a:pPr>
            <a:r>
              <a:rPr lang="es-ES" b="1" dirty="0"/>
              <a:t>Apache Mesos</a:t>
            </a:r>
          </a:p>
          <a:p>
            <a:pPr fontAlgn="base"/>
            <a:r>
              <a:rPr lang="es-ES" dirty="0"/>
              <a:t>Los </a:t>
            </a:r>
            <a:r>
              <a:rPr lang="es-ES" b="1" dirty="0"/>
              <a:t>frameworks más comunes</a:t>
            </a:r>
            <a:r>
              <a:rPr lang="es-ES" dirty="0"/>
              <a:t> son: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- Apache Spark: plataforma de programación distribuida donde prima la velocidad de proceso</a:t>
            </a:r>
          </a:p>
          <a:p>
            <a:pPr fontAlgn="base"/>
            <a:r>
              <a:rPr lang="es-ES" dirty="0"/>
              <a:t>- Cassandra: BBDD NoSQL que soporta grandes volúmenes de datos.</a:t>
            </a:r>
          </a:p>
          <a:p>
            <a:pPr fontAlgn="base"/>
            <a:r>
              <a:rPr lang="es-ES" dirty="0"/>
              <a:t>- Akka: framework para la programación concurrente y distribuida</a:t>
            </a:r>
          </a:p>
          <a:p>
            <a:pPr fontAlgn="base"/>
            <a:r>
              <a:rPr lang="es-ES" dirty="0"/>
              <a:t>- Apache Kafka: plataforma de alto rendimiento que actúa como intermediario de mensajes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Mesos utiliza un </a:t>
            </a:r>
            <a:r>
              <a:rPr lang="es-ES" b="1" dirty="0"/>
              <a:t>sistema de dos niveles de planificación</a:t>
            </a:r>
            <a:r>
              <a:rPr lang="es-ES" dirty="0"/>
              <a:t> que decide el número de recursos a asignar a cada framework, y el framework decide qué recursos aceptar y qué tareas debe correr en esos recursos. Así, permite </a:t>
            </a:r>
            <a:r>
              <a:rPr lang="es-ES" b="1" dirty="0"/>
              <a:t>optimización y escalado</a:t>
            </a:r>
            <a:r>
              <a:rPr lang="es-ES" dirty="0"/>
              <a:t>.</a:t>
            </a:r>
          </a:p>
          <a:p>
            <a:pPr fontAlgn="base"/>
            <a:r>
              <a:rPr lang="es-ES" dirty="0"/>
              <a:t>La </a:t>
            </a:r>
            <a:r>
              <a:rPr lang="es-ES" b="1" dirty="0"/>
              <a:t>arquitectura de Apache Mesos</a:t>
            </a:r>
            <a:r>
              <a:rPr lang="es-ES" dirty="0"/>
              <a:t> está basada en: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3 nodos master: 1 activo y 2 en standby preparados ante fallos, que actúan como gestor de servicios.</a:t>
            </a:r>
          </a:p>
          <a:p>
            <a:pPr fontAlgn="base"/>
            <a:r>
              <a:rPr lang="es-ES" dirty="0"/>
              <a:t>3 Zookeepers: sistemas centralizados de configuraciones que proporcionan sincronización distribuida y que permiten la tolerancia a fallos asignando un nuevo master cuando el activo falla, y 3 slaves donde corren los frameworks.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Mesos soporta </a:t>
            </a:r>
            <a:r>
              <a:rPr lang="es-ES" b="1" dirty="0"/>
              <a:t>escalabilidad lineal</a:t>
            </a:r>
            <a:r>
              <a:rPr lang="es-ES" dirty="0"/>
              <a:t> y ofrece</a:t>
            </a:r>
            <a:r>
              <a:rPr lang="es-ES" b="1" dirty="0"/>
              <a:t> alta disponibilidad</a:t>
            </a:r>
            <a:r>
              <a:rPr lang="es-ES" dirty="0"/>
              <a:t> gracias a los Zookeeper</a:t>
            </a:r>
          </a:p>
        </p:txBody>
      </p:sp>
    </p:spTree>
    <p:extLst>
      <p:ext uri="{BB962C8B-B14F-4D97-AF65-F5344CB8AC3E}">
        <p14:creationId xmlns:p14="http://schemas.microsoft.com/office/powerpoint/2010/main" val="1462926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Introducción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/>
              <a:t>Comparativa de Orquestadores</a:t>
            </a:r>
          </a:p>
          <a:p>
            <a:endParaRPr lang="es-ES" dirty="0"/>
          </a:p>
          <a:p>
            <a:pPr marL="342900" indent="-342900" fontAlgn="base">
              <a:buFont typeface="+mj-lt"/>
              <a:buAutoNum type="arabicPeriod" startAt="3"/>
            </a:pPr>
            <a:r>
              <a:rPr lang="es-ES" b="1" dirty="0"/>
              <a:t>Kubernetes</a:t>
            </a:r>
          </a:p>
          <a:p>
            <a:pPr marL="342900" indent="-342900" fontAlgn="base">
              <a:buFont typeface="+mj-lt"/>
              <a:buAutoNum type="arabicPeriod" startAt="3"/>
            </a:pPr>
            <a:endParaRPr lang="es-ES" b="1" dirty="0"/>
          </a:p>
          <a:p>
            <a:pPr fontAlgn="base"/>
            <a:r>
              <a:rPr lang="es-ES" dirty="0"/>
              <a:t>Creado por Google, </a:t>
            </a:r>
            <a:r>
              <a:rPr lang="es-ES" b="1" dirty="0"/>
              <a:t>Kubernetes</a:t>
            </a:r>
            <a:r>
              <a:rPr lang="es-ES" dirty="0"/>
              <a:t> automatiza la gestión de aplicaciones en contenedores, permitiendo su </a:t>
            </a:r>
            <a:r>
              <a:rPr lang="es-ES" b="1" dirty="0"/>
              <a:t>despliegue, escalado y monitorización,</a:t>
            </a:r>
            <a:r>
              <a:rPr lang="es-ES" dirty="0"/>
              <a:t> entre otras características.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El </a:t>
            </a:r>
            <a:r>
              <a:rPr lang="es-ES" b="1" dirty="0"/>
              <a:t>despliegue </a:t>
            </a:r>
            <a:r>
              <a:rPr lang="es-ES" dirty="0"/>
              <a:t>se realiza a través de un </a:t>
            </a:r>
            <a:r>
              <a:rPr lang="es-ES" b="1" dirty="0"/>
              <a:t>datacenter</a:t>
            </a:r>
            <a:r>
              <a:rPr lang="es-ES" dirty="0"/>
              <a:t>, pero en lugar de gestionar contenedores, </a:t>
            </a:r>
            <a:r>
              <a:rPr lang="es-ES" b="1" dirty="0"/>
              <a:t>gestiona PODs</a:t>
            </a:r>
            <a:r>
              <a:rPr lang="es-ES" dirty="0"/>
              <a:t>, que pueden estar compuestos por uno o varios contenedores formando un servicio.</a:t>
            </a:r>
          </a:p>
          <a:p>
            <a:pPr fontAlgn="base"/>
            <a:r>
              <a:rPr lang="es-ES" dirty="0"/>
              <a:t>Los contenedores de un mismo POD corren en el mismo nodo y comparten recursos.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Kubernetes se basa en un modelo de nodos master-slave, donde el master (que puede actuar también como slave) gestiona la creación de PODs y la distribución de los mismos en los diferentes nodos, según la disponibilidad de los recursos en el cluster.</a:t>
            </a:r>
          </a:p>
        </p:txBody>
      </p:sp>
    </p:spTree>
    <p:extLst>
      <p:ext uri="{BB962C8B-B14F-4D97-AF65-F5344CB8AC3E}">
        <p14:creationId xmlns:p14="http://schemas.microsoft.com/office/powerpoint/2010/main" val="861504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Introducción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/>
              <a:t>Comparativa de Orquestadores</a:t>
            </a:r>
          </a:p>
          <a:p>
            <a:endParaRPr lang="es-ES" dirty="0"/>
          </a:p>
          <a:p>
            <a:pPr marL="342900" indent="-342900" fontAlgn="base">
              <a:buFont typeface="+mj-lt"/>
              <a:buAutoNum type="arabicPeriod" startAt="3"/>
            </a:pPr>
            <a:r>
              <a:rPr lang="es-ES" b="1" dirty="0"/>
              <a:t>Kubernetes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CBFA59B-40C3-4B54-AE93-F38184EF1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334" y="1931815"/>
            <a:ext cx="6019315" cy="492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072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Introducción Kubernetes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/>
              <a:t>Comparativa de Orquestadores</a:t>
            </a:r>
          </a:p>
          <a:p>
            <a:pPr marL="342900" indent="-342900" fontAlgn="base">
              <a:buFont typeface="+mj-lt"/>
              <a:buAutoNum type="arabicPeriod" startAt="3"/>
            </a:pPr>
            <a:r>
              <a:rPr lang="es-ES" b="1" dirty="0"/>
              <a:t>Kubernetes</a:t>
            </a:r>
          </a:p>
          <a:p>
            <a:pPr marL="342900" indent="-342900" fontAlgn="base">
              <a:buFont typeface="+mj-lt"/>
              <a:buAutoNum type="arabicPeriod" startAt="3"/>
            </a:pPr>
            <a:endParaRPr lang="es-ES" b="1" dirty="0"/>
          </a:p>
          <a:p>
            <a:pPr fontAlgn="base"/>
            <a:r>
              <a:rPr lang="es-ES" dirty="0"/>
              <a:t>A diferencia de Docker Swarm, </a:t>
            </a:r>
            <a:r>
              <a:rPr lang="es-ES" b="1" dirty="0"/>
              <a:t>Kubernetes utiliza su propia API</a:t>
            </a:r>
            <a:r>
              <a:rPr lang="es-ES" dirty="0"/>
              <a:t>, con la ventaja de que </a:t>
            </a:r>
            <a:r>
              <a:rPr lang="es-ES" b="1" dirty="0"/>
              <a:t>pueden añadirse nuevas operaciones personalizadas </a:t>
            </a:r>
            <a:r>
              <a:rPr lang="es-ES" dirty="0"/>
              <a:t>según las necesidades que vayan surgiendo.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Puede </a:t>
            </a:r>
            <a:r>
              <a:rPr lang="es-ES" b="1" dirty="0"/>
              <a:t>trabajar con distintos tipos de contenedores</a:t>
            </a:r>
            <a:r>
              <a:rPr lang="es-ES" dirty="0"/>
              <a:t> como docker, rkt.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La </a:t>
            </a:r>
            <a:r>
              <a:rPr lang="es-ES" b="1" dirty="0"/>
              <a:t>instalación </a:t>
            </a:r>
            <a:r>
              <a:rPr lang="es-ES" dirty="0"/>
              <a:t>de </a:t>
            </a:r>
            <a:r>
              <a:rPr lang="es-ES" b="1" dirty="0"/>
              <a:t>Kubernetes </a:t>
            </a:r>
            <a:r>
              <a:rPr lang="es-ES" dirty="0"/>
              <a:t>es </a:t>
            </a:r>
            <a:r>
              <a:rPr lang="es-ES" b="1" dirty="0"/>
              <a:t>manual </a:t>
            </a:r>
            <a:r>
              <a:rPr lang="es-ES" dirty="0"/>
              <a:t>y requiere configuraciones no automáticas, así como conocimiento del cluster que se quiera crear (gestión de roles, IPs…), en consecuencia, es </a:t>
            </a:r>
            <a:r>
              <a:rPr lang="es-ES" b="1" dirty="0"/>
              <a:t>más complejo que Docker Swarm</a:t>
            </a:r>
            <a:r>
              <a:rPr lang="es-ES" dirty="0"/>
              <a:t>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Kubernetes permite el </a:t>
            </a:r>
            <a:r>
              <a:rPr lang="es-ES" b="1" dirty="0"/>
              <a:t>escalado de aplicaciones automáticamente </a:t>
            </a:r>
            <a:r>
              <a:rPr lang="es-ES" dirty="0"/>
              <a:t>mediante Deployments, que son scripts en YAML para la construcción y eliminación de PODs.</a:t>
            </a:r>
          </a:p>
          <a:p>
            <a:pPr fontAlgn="base"/>
            <a:endParaRPr lang="es-ES" dirty="0"/>
          </a:p>
          <a:p>
            <a:pPr fontAlgn="base"/>
            <a:r>
              <a:rPr lang="es-ES" dirty="0"/>
              <a:t>Otra </a:t>
            </a:r>
            <a:r>
              <a:rPr lang="es-ES" b="1" dirty="0"/>
              <a:t>ventaja </a:t>
            </a:r>
            <a:r>
              <a:rPr lang="es-ES" dirty="0"/>
              <a:t>es la </a:t>
            </a:r>
            <a:r>
              <a:rPr lang="es-ES" b="1" dirty="0"/>
              <a:t>alta disponibilidad</a:t>
            </a:r>
            <a:r>
              <a:rPr lang="es-ES" dirty="0"/>
              <a:t>, proporcionada mediante la supervisión de nodos, detectando los que no están funcionando correctamente y permitiendo eliminarlos.</a:t>
            </a:r>
          </a:p>
          <a:p>
            <a:pPr fontAlgn="base"/>
            <a:r>
              <a:rPr lang="es-ES" dirty="0"/>
              <a:t>Al ser de Google, podemos encontrarlo implementado en recursos de su propia plataforma (Google Cloud Platform),  así como gestionando servidores disponibles en otras plataformas, ya sean públicas (AWS) o privadas (Openshift, Cloud Foundry).</a:t>
            </a:r>
          </a:p>
        </p:txBody>
      </p:sp>
    </p:spTree>
    <p:extLst>
      <p:ext uri="{BB962C8B-B14F-4D97-AF65-F5344CB8AC3E}">
        <p14:creationId xmlns:p14="http://schemas.microsoft.com/office/powerpoint/2010/main" val="11453798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1138</Words>
  <Application>Microsoft Office PowerPoint</Application>
  <PresentationFormat>Panorámica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Josemanuel Fernandez (UST, ESP)</dc:creator>
  <cp:lastModifiedBy>Jose Manuel Fernandez Caballero(UST,ES)</cp:lastModifiedBy>
  <cp:revision>81</cp:revision>
  <dcterms:created xsi:type="dcterms:W3CDTF">2019-06-24T18:25:13Z</dcterms:created>
  <dcterms:modified xsi:type="dcterms:W3CDTF">2020-08-14T10:17:33Z</dcterms:modified>
</cp:coreProperties>
</file>
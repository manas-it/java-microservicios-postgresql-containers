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9A3595-D280-4A0D-9988-9EA49C95FF98}"/>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C4B8FDA1-E5E8-4253-A4E6-0CD47644B5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EBC9DB56-586C-420E-8B3C-8299B0FA1112}"/>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5" name="Marcador de pie de página 4">
            <a:extLst>
              <a:ext uri="{FF2B5EF4-FFF2-40B4-BE49-F238E27FC236}">
                <a16:creationId xmlns:a16="http://schemas.microsoft.com/office/drawing/2014/main" id="{2FA26E90-36A4-4FFE-BE07-093685101B91}"/>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C6BC845E-B887-4785-B4B4-F4790380822E}"/>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1990163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58E3CF4-463E-4F69-98D8-A9F0BE27AA07}"/>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61DC534E-5ED9-40C7-9193-57C3CD78323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D606266-5C91-4E89-92CE-2FD0F64B956D}"/>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5" name="Marcador de pie de página 4">
            <a:extLst>
              <a:ext uri="{FF2B5EF4-FFF2-40B4-BE49-F238E27FC236}">
                <a16:creationId xmlns:a16="http://schemas.microsoft.com/office/drawing/2014/main" id="{58DB2669-C6C1-49D3-9E58-BCEC8D7883B4}"/>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C6526089-E024-4D26-9000-4D7302FF0960}"/>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4257512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0A6124-18EA-4484-AFE5-EF2B5D092867}"/>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94AD55FE-D99E-40EE-992D-01423FA3F9F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75C2933-EDEB-48E1-AE21-771A6BB69393}"/>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5" name="Marcador de pie de página 4">
            <a:extLst>
              <a:ext uri="{FF2B5EF4-FFF2-40B4-BE49-F238E27FC236}">
                <a16:creationId xmlns:a16="http://schemas.microsoft.com/office/drawing/2014/main" id="{AA5CBF05-A98A-4E2E-A714-777CF680AA00}"/>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F416B26B-6491-42E1-B407-FA004A96AF49}"/>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35236462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D1F306-A33F-48FE-B6E3-4F8B975233A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C6EC1991-E2DC-47AF-BB3A-98B3A32C5522}"/>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C33E1C43-72B6-4053-943A-DE335E3FAD0B}"/>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81843855-5B48-458F-872B-7FF5CE90455D}"/>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6" name="Marcador de pie de página 5">
            <a:extLst>
              <a:ext uri="{FF2B5EF4-FFF2-40B4-BE49-F238E27FC236}">
                <a16:creationId xmlns:a16="http://schemas.microsoft.com/office/drawing/2014/main" id="{A4C4F48D-9FDE-478A-BA7E-7683C7714E1F}"/>
              </a:ext>
            </a:extLst>
          </p:cNvPr>
          <p:cNvSpPr>
            <a:spLocks noGrp="1"/>
          </p:cNvSpPr>
          <p:nvPr>
            <p:ph type="ftr" sz="quarter" idx="11"/>
          </p:nvPr>
        </p:nvSpPr>
        <p:spPr/>
        <p:txBody>
          <a:bodyPr/>
          <a:lstStyle/>
          <a:p>
            <a:endParaRPr lang="es-ES" dirty="0"/>
          </a:p>
        </p:txBody>
      </p:sp>
      <p:sp>
        <p:nvSpPr>
          <p:cNvPr id="7" name="Marcador de número de diapositiva 6">
            <a:extLst>
              <a:ext uri="{FF2B5EF4-FFF2-40B4-BE49-F238E27FC236}">
                <a16:creationId xmlns:a16="http://schemas.microsoft.com/office/drawing/2014/main" id="{C304B02E-9B99-4499-ADEE-37FD162F0FCF}"/>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1029416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34E75C-32C8-44D2-8AA1-28E686FEC020}"/>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5CCB050-8F3C-450C-AA60-E7E5E9476C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A6C04BB-F0F9-47B0-B8E3-B12037CD2E5D}"/>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68AB6CD0-740F-4F2D-9449-52DEFBF893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F1A32471-9780-4185-9B52-5816C8CC8B32}"/>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0874B27E-72C3-4F50-80FB-13380997F51B}"/>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8" name="Marcador de pie de página 7">
            <a:extLst>
              <a:ext uri="{FF2B5EF4-FFF2-40B4-BE49-F238E27FC236}">
                <a16:creationId xmlns:a16="http://schemas.microsoft.com/office/drawing/2014/main" id="{0A206646-B103-49C1-AF5E-7D146DA505FA}"/>
              </a:ext>
            </a:extLst>
          </p:cNvPr>
          <p:cNvSpPr>
            <a:spLocks noGrp="1"/>
          </p:cNvSpPr>
          <p:nvPr>
            <p:ph type="ftr" sz="quarter" idx="11"/>
          </p:nvPr>
        </p:nvSpPr>
        <p:spPr/>
        <p:txBody>
          <a:bodyPr/>
          <a:lstStyle/>
          <a:p>
            <a:endParaRPr lang="es-ES" dirty="0"/>
          </a:p>
        </p:txBody>
      </p:sp>
      <p:sp>
        <p:nvSpPr>
          <p:cNvPr id="9" name="Marcador de número de diapositiva 8">
            <a:extLst>
              <a:ext uri="{FF2B5EF4-FFF2-40B4-BE49-F238E27FC236}">
                <a16:creationId xmlns:a16="http://schemas.microsoft.com/office/drawing/2014/main" id="{9E9C49CC-758F-4047-9EAC-C667DB3EB43F}"/>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1209616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5B3A24-ECA4-4ABF-ABAD-B42AE4450F5E}"/>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1A205861-5FCD-4857-8683-58CD0DBC6FDF}"/>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4" name="Marcador de pie de página 3">
            <a:extLst>
              <a:ext uri="{FF2B5EF4-FFF2-40B4-BE49-F238E27FC236}">
                <a16:creationId xmlns:a16="http://schemas.microsoft.com/office/drawing/2014/main" id="{2B5D106C-7E02-48B6-B668-1420A55228C2}"/>
              </a:ext>
            </a:extLst>
          </p:cNvPr>
          <p:cNvSpPr>
            <a:spLocks noGrp="1"/>
          </p:cNvSpPr>
          <p:nvPr>
            <p:ph type="ftr" sz="quarter" idx="11"/>
          </p:nvPr>
        </p:nvSpPr>
        <p:spPr/>
        <p:txBody>
          <a:bodyPr/>
          <a:lstStyle/>
          <a:p>
            <a:endParaRPr lang="es-ES" dirty="0"/>
          </a:p>
        </p:txBody>
      </p:sp>
      <p:sp>
        <p:nvSpPr>
          <p:cNvPr id="5" name="Marcador de número de diapositiva 4">
            <a:extLst>
              <a:ext uri="{FF2B5EF4-FFF2-40B4-BE49-F238E27FC236}">
                <a16:creationId xmlns:a16="http://schemas.microsoft.com/office/drawing/2014/main" id="{032E5B02-143E-4B39-8C2D-716CA129143F}"/>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2604473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DB37B887-6376-490C-BD85-8779F4AB7542}"/>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3" name="Marcador de pie de página 2">
            <a:extLst>
              <a:ext uri="{FF2B5EF4-FFF2-40B4-BE49-F238E27FC236}">
                <a16:creationId xmlns:a16="http://schemas.microsoft.com/office/drawing/2014/main" id="{F52D4586-D47A-4F07-90AA-8D9152348098}"/>
              </a:ext>
            </a:extLst>
          </p:cNvPr>
          <p:cNvSpPr>
            <a:spLocks noGrp="1"/>
          </p:cNvSpPr>
          <p:nvPr>
            <p:ph type="ftr" sz="quarter" idx="11"/>
          </p:nvPr>
        </p:nvSpPr>
        <p:spPr/>
        <p:txBody>
          <a:bodyPr/>
          <a:lstStyle/>
          <a:p>
            <a:endParaRPr lang="es-ES" dirty="0"/>
          </a:p>
        </p:txBody>
      </p:sp>
      <p:sp>
        <p:nvSpPr>
          <p:cNvPr id="4" name="Marcador de número de diapositiva 3">
            <a:extLst>
              <a:ext uri="{FF2B5EF4-FFF2-40B4-BE49-F238E27FC236}">
                <a16:creationId xmlns:a16="http://schemas.microsoft.com/office/drawing/2014/main" id="{E04CD051-DC3B-4B7A-AD5C-8079D9BB6EEA}"/>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3788527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3DA9C2-2DEA-450A-96D1-41D5441AC0C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26F92D33-7041-4F0A-A003-C777CB395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7A66FB79-8F8C-4A59-ABED-B4119790C6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FF460DE-58E7-4093-A5DC-E84A74A65CD4}"/>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6" name="Marcador de pie de página 5">
            <a:extLst>
              <a:ext uri="{FF2B5EF4-FFF2-40B4-BE49-F238E27FC236}">
                <a16:creationId xmlns:a16="http://schemas.microsoft.com/office/drawing/2014/main" id="{F427A1B3-2C3D-4ED3-A7B4-D3E7653ADB23}"/>
              </a:ext>
            </a:extLst>
          </p:cNvPr>
          <p:cNvSpPr>
            <a:spLocks noGrp="1"/>
          </p:cNvSpPr>
          <p:nvPr>
            <p:ph type="ftr" sz="quarter" idx="11"/>
          </p:nvPr>
        </p:nvSpPr>
        <p:spPr/>
        <p:txBody>
          <a:bodyPr/>
          <a:lstStyle/>
          <a:p>
            <a:endParaRPr lang="es-ES" dirty="0"/>
          </a:p>
        </p:txBody>
      </p:sp>
      <p:sp>
        <p:nvSpPr>
          <p:cNvPr id="7" name="Marcador de número de diapositiva 6">
            <a:extLst>
              <a:ext uri="{FF2B5EF4-FFF2-40B4-BE49-F238E27FC236}">
                <a16:creationId xmlns:a16="http://schemas.microsoft.com/office/drawing/2014/main" id="{822CBFCB-D336-4672-B19C-AF6DEF1EC09E}"/>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898622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27BD7C-6659-4553-8BFB-2B62EC532A3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C3503AC9-7241-4CB5-873D-322D64AC12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dirty="0"/>
          </a:p>
        </p:txBody>
      </p:sp>
      <p:sp>
        <p:nvSpPr>
          <p:cNvPr id="4" name="Marcador de texto 3">
            <a:extLst>
              <a:ext uri="{FF2B5EF4-FFF2-40B4-BE49-F238E27FC236}">
                <a16:creationId xmlns:a16="http://schemas.microsoft.com/office/drawing/2014/main" id="{9D6FF7BF-6BDC-4B7D-8D39-8194433C38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8419A63-FD20-4014-9265-31370AB5E673}"/>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6" name="Marcador de pie de página 5">
            <a:extLst>
              <a:ext uri="{FF2B5EF4-FFF2-40B4-BE49-F238E27FC236}">
                <a16:creationId xmlns:a16="http://schemas.microsoft.com/office/drawing/2014/main" id="{5BB9065C-D0F1-4356-B9FE-C93FFBE50859}"/>
              </a:ext>
            </a:extLst>
          </p:cNvPr>
          <p:cNvSpPr>
            <a:spLocks noGrp="1"/>
          </p:cNvSpPr>
          <p:nvPr>
            <p:ph type="ftr" sz="quarter" idx="11"/>
          </p:nvPr>
        </p:nvSpPr>
        <p:spPr/>
        <p:txBody>
          <a:bodyPr/>
          <a:lstStyle/>
          <a:p>
            <a:endParaRPr lang="es-ES" dirty="0"/>
          </a:p>
        </p:txBody>
      </p:sp>
      <p:sp>
        <p:nvSpPr>
          <p:cNvPr id="7" name="Marcador de número de diapositiva 6">
            <a:extLst>
              <a:ext uri="{FF2B5EF4-FFF2-40B4-BE49-F238E27FC236}">
                <a16:creationId xmlns:a16="http://schemas.microsoft.com/office/drawing/2014/main" id="{9324BBBE-C538-4E03-8CE4-D8B0A3D2B399}"/>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3991468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3278FA-6331-4F43-AE90-AF77D8708DA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A195476-6356-4730-8B64-F38FBD8210B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9B047FB-C57E-42E4-8DDA-D8B64434A4E3}"/>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5" name="Marcador de pie de página 4">
            <a:extLst>
              <a:ext uri="{FF2B5EF4-FFF2-40B4-BE49-F238E27FC236}">
                <a16:creationId xmlns:a16="http://schemas.microsoft.com/office/drawing/2014/main" id="{9D9D9CEF-B8BC-48AF-A2B1-8A135B5A860F}"/>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F02E9424-27F0-4D42-B476-F0BB4C50E15C}"/>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2225183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E7C505B-FBCB-4DC6-BD42-6DDB419441C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B44A7345-5C43-41EB-BBFF-2E0EFC6E233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10C3B38D-1118-496B-A0BC-DE33AD8958DD}"/>
              </a:ext>
            </a:extLst>
          </p:cNvPr>
          <p:cNvSpPr>
            <a:spLocks noGrp="1"/>
          </p:cNvSpPr>
          <p:nvPr>
            <p:ph type="dt" sz="half" idx="10"/>
          </p:nvPr>
        </p:nvSpPr>
        <p:spPr/>
        <p:txBody>
          <a:bodyPr/>
          <a:lstStyle/>
          <a:p>
            <a:fld id="{72A0442E-1929-4ECC-8560-C19CCE76AC21}" type="datetimeFigureOut">
              <a:rPr lang="es-ES" smtClean="0"/>
              <a:t>14/08/2020</a:t>
            </a:fld>
            <a:endParaRPr lang="es-ES" dirty="0"/>
          </a:p>
        </p:txBody>
      </p:sp>
      <p:sp>
        <p:nvSpPr>
          <p:cNvPr id="5" name="Marcador de pie de página 4">
            <a:extLst>
              <a:ext uri="{FF2B5EF4-FFF2-40B4-BE49-F238E27FC236}">
                <a16:creationId xmlns:a16="http://schemas.microsoft.com/office/drawing/2014/main" id="{41FECF1D-60DD-48C5-8DDF-1795425665AE}"/>
              </a:ext>
            </a:extLst>
          </p:cNvPr>
          <p:cNvSpPr>
            <a:spLocks noGrp="1"/>
          </p:cNvSpPr>
          <p:nvPr>
            <p:ph type="ftr" sz="quarter" idx="11"/>
          </p:nvPr>
        </p:nvSpPr>
        <p:spPr/>
        <p:txBody>
          <a:bodyPr/>
          <a:lstStyle/>
          <a:p>
            <a:endParaRPr lang="es-ES" dirty="0"/>
          </a:p>
        </p:txBody>
      </p:sp>
      <p:sp>
        <p:nvSpPr>
          <p:cNvPr id="6" name="Marcador de número de diapositiva 5">
            <a:extLst>
              <a:ext uri="{FF2B5EF4-FFF2-40B4-BE49-F238E27FC236}">
                <a16:creationId xmlns:a16="http://schemas.microsoft.com/office/drawing/2014/main" id="{1FAAB894-D435-480D-898A-AB8F03AE8B3E}"/>
              </a:ext>
            </a:extLst>
          </p:cNvPr>
          <p:cNvSpPr>
            <a:spLocks noGrp="1"/>
          </p:cNvSpPr>
          <p:nvPr>
            <p:ph type="sldNum" sz="quarter" idx="12"/>
          </p:nvPr>
        </p:nvSpPr>
        <p:spPr/>
        <p:txBody>
          <a:bodyPr/>
          <a:lstStyle/>
          <a:p>
            <a:fld id="{D304F132-90F9-44EE-BAD5-FDDE11EB1118}" type="slidenum">
              <a:rPr lang="es-ES" smtClean="0"/>
              <a:t>‹Nº›</a:t>
            </a:fld>
            <a:endParaRPr lang="es-ES" dirty="0"/>
          </a:p>
        </p:txBody>
      </p:sp>
    </p:spTree>
    <p:extLst>
      <p:ext uri="{BB962C8B-B14F-4D97-AF65-F5344CB8AC3E}">
        <p14:creationId xmlns:p14="http://schemas.microsoft.com/office/powerpoint/2010/main" val="313832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C19CA5C-03D3-46B5-A860-59835DD5ED4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AA3497B5-7F32-4244-9297-36F11F28A2B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0719609-C167-43E3-BCBA-95E5634D1C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A0442E-1929-4ECC-8560-C19CCE76AC21}" type="datetimeFigureOut">
              <a:rPr lang="es-ES" smtClean="0"/>
              <a:t>14/08/2020</a:t>
            </a:fld>
            <a:endParaRPr lang="es-ES" dirty="0"/>
          </a:p>
        </p:txBody>
      </p:sp>
      <p:sp>
        <p:nvSpPr>
          <p:cNvPr id="5" name="Marcador de pie de página 4">
            <a:extLst>
              <a:ext uri="{FF2B5EF4-FFF2-40B4-BE49-F238E27FC236}">
                <a16:creationId xmlns:a16="http://schemas.microsoft.com/office/drawing/2014/main" id="{FCA4E284-E64C-4476-A0B6-68F07F59BA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Marcador de número de diapositiva 5">
            <a:extLst>
              <a:ext uri="{FF2B5EF4-FFF2-40B4-BE49-F238E27FC236}">
                <a16:creationId xmlns:a16="http://schemas.microsoft.com/office/drawing/2014/main" id="{BF5B1383-4B51-4011-B462-FFC05FA931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04F132-90F9-44EE-BAD5-FDDE11EB1118}" type="slidenum">
              <a:rPr lang="es-ES" smtClean="0"/>
              <a:t>‹Nº›</a:t>
            </a:fld>
            <a:endParaRPr lang="es-ES" dirty="0"/>
          </a:p>
        </p:txBody>
      </p:sp>
    </p:spTree>
    <p:extLst>
      <p:ext uri="{BB962C8B-B14F-4D97-AF65-F5344CB8AC3E}">
        <p14:creationId xmlns:p14="http://schemas.microsoft.com/office/powerpoint/2010/main" val="2957702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248034"/>
          </a:xfrm>
          <a:prstGeom prst="rect">
            <a:avLst/>
          </a:prstGeom>
        </p:spPr>
        <p:txBody>
          <a:bodyPr wrap="square">
            <a:spAutoFit/>
          </a:bodyPr>
          <a:lstStyle/>
          <a:p>
            <a:pPr algn="ctr" fontAlgn="base">
              <a:lnSpc>
                <a:spcPct val="107000"/>
              </a:lnSpc>
              <a:spcAft>
                <a:spcPts val="0"/>
              </a:spcAft>
            </a:pPr>
            <a:r>
              <a:rPr lang="es-ES" sz="3600" kern="1800" dirty="0">
                <a:solidFill>
                  <a:srgbClr val="4D4D4D"/>
                </a:solidFill>
                <a:latin typeface="Helvetica" panose="020B0604020202020204" pitchFamily="34" charset="0"/>
                <a:ea typeface="Times New Roman" panose="02020603050405020304" pitchFamily="18" charset="0"/>
                <a:cs typeface="Times New Roman" panose="02020603050405020304" pitchFamily="18" charset="0"/>
              </a:rPr>
              <a:t>Arquitectura híbrida con Nutanix </a:t>
            </a:r>
            <a:br>
              <a:rPr lang="es-ES" sz="3600" kern="1800" dirty="0">
                <a:solidFill>
                  <a:srgbClr val="4D4D4D"/>
                </a:solidFill>
                <a:latin typeface="Helvetica" panose="020B0604020202020204" pitchFamily="34" charset="0"/>
                <a:ea typeface="Times New Roman" panose="02020603050405020304" pitchFamily="18" charset="0"/>
                <a:cs typeface="Times New Roman" panose="02020603050405020304" pitchFamily="18" charset="0"/>
              </a:rPr>
            </a:br>
            <a:r>
              <a:rPr lang="es-ES" sz="3600" kern="1800" dirty="0">
                <a:solidFill>
                  <a:srgbClr val="4D4D4D"/>
                </a:solidFill>
                <a:latin typeface="Helvetica" panose="020B0604020202020204" pitchFamily="34" charset="0"/>
                <a:ea typeface="Times New Roman" panose="02020603050405020304" pitchFamily="18" charset="0"/>
                <a:cs typeface="Times New Roman" panose="02020603050405020304" pitchFamily="18" charset="0"/>
              </a:rPr>
              <a:t>Google Cloud + Kubernetes</a:t>
            </a:r>
            <a:endParaRPr lang="es-ES" sz="3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CuadroTexto 7">
            <a:extLst>
              <a:ext uri="{FF2B5EF4-FFF2-40B4-BE49-F238E27FC236}">
                <a16:creationId xmlns:a16="http://schemas.microsoft.com/office/drawing/2014/main" id="{0F44F380-A859-486C-9C46-997822D31F75}"/>
              </a:ext>
            </a:extLst>
          </p:cNvPr>
          <p:cNvSpPr txBox="1"/>
          <p:nvPr/>
        </p:nvSpPr>
        <p:spPr>
          <a:xfrm>
            <a:off x="765110" y="2164702"/>
            <a:ext cx="10496939" cy="3970318"/>
          </a:xfrm>
          <a:prstGeom prst="rect">
            <a:avLst/>
          </a:prstGeom>
          <a:noFill/>
        </p:spPr>
        <p:txBody>
          <a:bodyPr wrap="square" rtlCol="0">
            <a:spAutoFit/>
          </a:bodyPr>
          <a:lstStyle/>
          <a:p>
            <a:r>
              <a:rPr lang="es-ES" sz="3600" dirty="0"/>
              <a:t>¿Cómo?</a:t>
            </a:r>
          </a:p>
          <a:p>
            <a:endParaRPr lang="es-ES" dirty="0"/>
          </a:p>
          <a:p>
            <a:pPr fontAlgn="base"/>
            <a:r>
              <a:rPr lang="es-ES" b="1" dirty="0"/>
              <a:t>Kubernetes y Google</a:t>
            </a:r>
            <a:endParaRPr lang="es-ES" dirty="0"/>
          </a:p>
          <a:p>
            <a:r>
              <a:rPr lang="es-ES" dirty="0"/>
              <a:t>La experiencia de Google corriendo sistemas internos basados en contenedores llevó a la creación de Kubernetes y Google Container Engine, una plataforma open source y Google Cloud para correr aplicaciones en contenedores a través de un pool de recursos.</a:t>
            </a:r>
          </a:p>
          <a:p>
            <a:endParaRPr lang="es-ES" dirty="0"/>
          </a:p>
          <a:p>
            <a:r>
              <a:rPr lang="es-ES" dirty="0"/>
              <a:t> Kubernetes abstrae la infraestructura inferior y proporciona capacidad para correr aplicaciones en contenedores. Kubernetes introduce el concepto de modelo de despliegue declarativo. En este modelo, una persona de operaciones proporciona un esquema (template) que describe cómo la aplicación debería correr, y Kubernetes se asegura de que el estado real de la aplicación es igual que el estado deseado. Además, Kubernetes gestiona el container scheduling, escalado, health, ciclo de vida, persistencia de datos, logging y monitorización.</a:t>
            </a:r>
          </a:p>
        </p:txBody>
      </p:sp>
    </p:spTree>
    <p:extLst>
      <p:ext uri="{BB962C8B-B14F-4D97-AF65-F5344CB8AC3E}">
        <p14:creationId xmlns:p14="http://schemas.microsoft.com/office/powerpoint/2010/main" val="1342286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234825"/>
          </a:xfrm>
          <a:prstGeom prst="rect">
            <a:avLst/>
          </a:prstGeom>
        </p:spPr>
        <p:txBody>
          <a:bodyPr wrap="square">
            <a:spAutoFit/>
          </a:bodyPr>
          <a:lstStyle/>
          <a:p>
            <a:pPr algn="ctr" fontAlgn="base">
              <a:lnSpc>
                <a:spcPct val="107000"/>
              </a:lnSpc>
              <a:spcAft>
                <a:spcPts val="0"/>
              </a:spcAft>
            </a:pPr>
            <a:r>
              <a:rPr lang="es-ES" sz="3600" kern="1800" dirty="0">
                <a:solidFill>
                  <a:srgbClr val="4D4D4D"/>
                </a:solidFill>
                <a:latin typeface="Helvetica" panose="020B0604020202020204" pitchFamily="34" charset="0"/>
                <a:cs typeface="Times New Roman" panose="02020603050405020304" pitchFamily="18" charset="0"/>
              </a:rPr>
              <a:t>Pasos para montar un entorno híbrido usando Nutanix y GCP</a:t>
            </a:r>
          </a:p>
        </p:txBody>
      </p:sp>
      <p:sp>
        <p:nvSpPr>
          <p:cNvPr id="8" name="CuadroTexto 7">
            <a:extLst>
              <a:ext uri="{FF2B5EF4-FFF2-40B4-BE49-F238E27FC236}">
                <a16:creationId xmlns:a16="http://schemas.microsoft.com/office/drawing/2014/main" id="{0F44F380-A859-486C-9C46-997822D31F75}"/>
              </a:ext>
            </a:extLst>
          </p:cNvPr>
          <p:cNvSpPr txBox="1"/>
          <p:nvPr/>
        </p:nvSpPr>
        <p:spPr>
          <a:xfrm>
            <a:off x="765110" y="2164702"/>
            <a:ext cx="10496939" cy="1477328"/>
          </a:xfrm>
          <a:prstGeom prst="rect">
            <a:avLst/>
          </a:prstGeom>
          <a:noFill/>
        </p:spPr>
        <p:txBody>
          <a:bodyPr wrap="square" rtlCol="0">
            <a:spAutoFit/>
          </a:bodyPr>
          <a:lstStyle/>
          <a:p>
            <a:pPr lvl="0" fontAlgn="base"/>
            <a:r>
              <a:rPr lang="es-ES" dirty="0"/>
              <a:t>1.- Provisionar un cluster on-premise de 4 nodos usando un blueprint en Nutanix Calm</a:t>
            </a:r>
          </a:p>
          <a:p>
            <a:pPr lvl="0" fontAlgn="base"/>
            <a:r>
              <a:rPr lang="es-ES" dirty="0"/>
              <a:t>2.- Provisionar un cluster de cuatro nodos con máquinas Google Compute Engine usando el mismo blueprint Kubernetes de Nutanix Calm, pero configurado para Google Cloud.</a:t>
            </a:r>
          </a:p>
          <a:p>
            <a:pPr lvl="0" fontAlgn="base"/>
            <a:r>
              <a:rPr lang="es-ES" dirty="0"/>
              <a:t>3.- Usar Kubectl para gestionar ambos clústeres Kubernetes.</a:t>
            </a:r>
          </a:p>
          <a:p>
            <a:pPr lvl="0" fontAlgn="base"/>
            <a:r>
              <a:rPr lang="es-ES" dirty="0"/>
              <a:t>4.- Usar Helm para desplegar la misma chart WordPress en ambos clústeres.</a:t>
            </a:r>
          </a:p>
        </p:txBody>
      </p:sp>
    </p:spTree>
    <p:extLst>
      <p:ext uri="{BB962C8B-B14F-4D97-AF65-F5344CB8AC3E}">
        <p14:creationId xmlns:p14="http://schemas.microsoft.com/office/powerpoint/2010/main" val="1698197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200329"/>
          </a:xfrm>
          <a:prstGeom prst="rect">
            <a:avLst/>
          </a:prstGeom>
        </p:spPr>
        <p:txBody>
          <a:bodyPr wrap="square">
            <a:spAutoFit/>
          </a:bodyPr>
          <a:lstStyle/>
          <a:p>
            <a:pPr fontAlgn="base"/>
            <a:r>
              <a:rPr lang="es-ES" sz="3600" kern="1800" dirty="0">
                <a:solidFill>
                  <a:srgbClr val="4D4D4D"/>
                </a:solidFill>
                <a:latin typeface="Helvetica" panose="020B0604020202020204" pitchFamily="34" charset="0"/>
                <a:cs typeface="Times New Roman" panose="02020603050405020304" pitchFamily="18" charset="0"/>
              </a:rPr>
              <a:t>Provisionar un cluster on-premise de 4 nodos usando un blueprint en Nutanix Calm</a:t>
            </a:r>
          </a:p>
        </p:txBody>
      </p:sp>
      <p:sp>
        <p:nvSpPr>
          <p:cNvPr id="8" name="CuadroTexto 7">
            <a:extLst>
              <a:ext uri="{FF2B5EF4-FFF2-40B4-BE49-F238E27FC236}">
                <a16:creationId xmlns:a16="http://schemas.microsoft.com/office/drawing/2014/main" id="{0F44F380-A859-486C-9C46-997822D31F75}"/>
              </a:ext>
            </a:extLst>
          </p:cNvPr>
          <p:cNvSpPr txBox="1"/>
          <p:nvPr/>
        </p:nvSpPr>
        <p:spPr>
          <a:xfrm>
            <a:off x="765110" y="2164702"/>
            <a:ext cx="10496939" cy="1200329"/>
          </a:xfrm>
          <a:prstGeom prst="rect">
            <a:avLst/>
          </a:prstGeom>
          <a:noFill/>
        </p:spPr>
        <p:txBody>
          <a:bodyPr wrap="square" rtlCol="0">
            <a:spAutoFit/>
          </a:bodyPr>
          <a:lstStyle/>
          <a:p>
            <a:pPr lvl="0" fontAlgn="base"/>
            <a:r>
              <a:rPr lang="es-ES" dirty="0"/>
              <a:t>Se usa Nutanix Calm para provisionar un cluster on-premise de Kubernetes y Nutanix Prism para lanzar el cluster de computación y storage virtualizado. Esto dará como resultado un pool gestionado de computación y storage que está listo para ser orquestado con Nutanix Calm, y listo para despliegues de paquetes open source o de pago.</a:t>
            </a:r>
          </a:p>
        </p:txBody>
      </p:sp>
      <p:pic>
        <p:nvPicPr>
          <p:cNvPr id="4" name="Imagen 3" descr="http://www.open3s.com/wp-content/uploads/2017/10/nutanix-kubernetes-1.png">
            <a:extLst>
              <a:ext uri="{FF2B5EF4-FFF2-40B4-BE49-F238E27FC236}">
                <a16:creationId xmlns:a16="http://schemas.microsoft.com/office/drawing/2014/main" id="{FD5FB78C-2B27-4711-9C37-0FF6FD6966BF}"/>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68758" y="3428999"/>
            <a:ext cx="7912360" cy="3167743"/>
          </a:xfrm>
          <a:prstGeom prst="rect">
            <a:avLst/>
          </a:prstGeom>
          <a:noFill/>
          <a:ln>
            <a:noFill/>
          </a:ln>
        </p:spPr>
      </p:pic>
    </p:spTree>
    <p:extLst>
      <p:ext uri="{BB962C8B-B14F-4D97-AF65-F5344CB8AC3E}">
        <p14:creationId xmlns:p14="http://schemas.microsoft.com/office/powerpoint/2010/main" val="3790530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200329"/>
          </a:xfrm>
          <a:prstGeom prst="rect">
            <a:avLst/>
          </a:prstGeom>
        </p:spPr>
        <p:txBody>
          <a:bodyPr wrap="square">
            <a:spAutoFit/>
          </a:bodyPr>
          <a:lstStyle/>
          <a:p>
            <a:pPr fontAlgn="base"/>
            <a:r>
              <a:rPr lang="es-ES" sz="3600" kern="1800" dirty="0">
                <a:solidFill>
                  <a:srgbClr val="4D4D4D"/>
                </a:solidFill>
                <a:latin typeface="Helvetica" panose="020B0604020202020204" pitchFamily="34" charset="0"/>
                <a:cs typeface="Times New Roman" panose="02020603050405020304" pitchFamily="18" charset="0"/>
              </a:rPr>
              <a:t>Provisionar un cluster on-premise de 4 nodos usando un blueprint en Nutanix Calm</a:t>
            </a:r>
          </a:p>
        </p:txBody>
      </p:sp>
      <p:sp>
        <p:nvSpPr>
          <p:cNvPr id="8" name="CuadroTexto 7">
            <a:extLst>
              <a:ext uri="{FF2B5EF4-FFF2-40B4-BE49-F238E27FC236}">
                <a16:creationId xmlns:a16="http://schemas.microsoft.com/office/drawing/2014/main" id="{0F44F380-A859-486C-9C46-997822D31F75}"/>
              </a:ext>
            </a:extLst>
          </p:cNvPr>
          <p:cNvSpPr txBox="1"/>
          <p:nvPr/>
        </p:nvSpPr>
        <p:spPr>
          <a:xfrm>
            <a:off x="676468" y="1886663"/>
            <a:ext cx="10496939" cy="923330"/>
          </a:xfrm>
          <a:prstGeom prst="rect">
            <a:avLst/>
          </a:prstGeom>
          <a:noFill/>
        </p:spPr>
        <p:txBody>
          <a:bodyPr wrap="square" rtlCol="0">
            <a:spAutoFit/>
          </a:bodyPr>
          <a:lstStyle/>
          <a:p>
            <a:pPr fontAlgn="base"/>
            <a:r>
              <a:rPr lang="es-ES" dirty="0"/>
              <a:t>El blueprint Kubernetes para Calm que se muestra más abajo configura el clúster de 4 nodos que incluye todo el software base de todos los nodos y el master. También se ha customizado el blueprint de Kubernetes para configurar el Helm Tiller del cluster.</a:t>
            </a:r>
          </a:p>
        </p:txBody>
      </p:sp>
      <p:pic>
        <p:nvPicPr>
          <p:cNvPr id="5" name="Imagen 4" descr="http://www.open3s.com/wp-content/uploads/2017/10/nutanix-kubernetes-3.jpg">
            <a:extLst>
              <a:ext uri="{FF2B5EF4-FFF2-40B4-BE49-F238E27FC236}">
                <a16:creationId xmlns:a16="http://schemas.microsoft.com/office/drawing/2014/main" id="{3C674BB6-437D-4320-B466-AC130FAA002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06845" y="3107690"/>
            <a:ext cx="5400040" cy="3385820"/>
          </a:xfrm>
          <a:prstGeom prst="rect">
            <a:avLst/>
          </a:prstGeom>
          <a:noFill/>
          <a:ln>
            <a:noFill/>
          </a:ln>
        </p:spPr>
      </p:pic>
      <p:pic>
        <p:nvPicPr>
          <p:cNvPr id="6" name="Imagen 5" descr="http://www.open3s.com/wp-content/uploads/2017/10/nutanix-kubernetes-4.jpg">
            <a:extLst>
              <a:ext uri="{FF2B5EF4-FFF2-40B4-BE49-F238E27FC236}">
                <a16:creationId xmlns:a16="http://schemas.microsoft.com/office/drawing/2014/main" id="{132F983C-9C9E-421B-872C-12DFB15AC5B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85833" y="3107690"/>
            <a:ext cx="5400040" cy="3311771"/>
          </a:xfrm>
          <a:prstGeom prst="rect">
            <a:avLst/>
          </a:prstGeom>
          <a:noFill/>
          <a:ln>
            <a:noFill/>
          </a:ln>
        </p:spPr>
      </p:pic>
    </p:spTree>
    <p:extLst>
      <p:ext uri="{BB962C8B-B14F-4D97-AF65-F5344CB8AC3E}">
        <p14:creationId xmlns:p14="http://schemas.microsoft.com/office/powerpoint/2010/main" val="796970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200329"/>
          </a:xfrm>
          <a:prstGeom prst="rect">
            <a:avLst/>
          </a:prstGeom>
        </p:spPr>
        <p:txBody>
          <a:bodyPr wrap="square">
            <a:spAutoFit/>
          </a:bodyPr>
          <a:lstStyle/>
          <a:p>
            <a:pPr fontAlgn="base"/>
            <a:r>
              <a:rPr lang="es-ES" sz="3600" kern="1800" dirty="0">
                <a:solidFill>
                  <a:srgbClr val="4D4D4D"/>
                </a:solidFill>
                <a:latin typeface="Helvetica" panose="020B0604020202020204" pitchFamily="34" charset="0"/>
                <a:cs typeface="Times New Roman" panose="02020603050405020304" pitchFamily="18" charset="0"/>
              </a:rPr>
              <a:t>Provisionar un cluster on-premise de 4 nodos usando un blueprint en Nutanix Calm</a:t>
            </a:r>
          </a:p>
        </p:txBody>
      </p:sp>
      <p:sp>
        <p:nvSpPr>
          <p:cNvPr id="8" name="CuadroTexto 7">
            <a:extLst>
              <a:ext uri="{FF2B5EF4-FFF2-40B4-BE49-F238E27FC236}">
                <a16:creationId xmlns:a16="http://schemas.microsoft.com/office/drawing/2014/main" id="{0F44F380-A859-486C-9C46-997822D31F75}"/>
              </a:ext>
            </a:extLst>
          </p:cNvPr>
          <p:cNvSpPr txBox="1"/>
          <p:nvPr/>
        </p:nvSpPr>
        <p:spPr>
          <a:xfrm>
            <a:off x="706845" y="1903445"/>
            <a:ext cx="10466562" cy="646331"/>
          </a:xfrm>
          <a:prstGeom prst="rect">
            <a:avLst/>
          </a:prstGeom>
          <a:noFill/>
        </p:spPr>
        <p:txBody>
          <a:bodyPr wrap="square" rtlCol="0">
            <a:spAutoFit/>
          </a:bodyPr>
          <a:lstStyle/>
          <a:p>
            <a:pPr fontAlgn="base"/>
            <a:r>
              <a:rPr lang="es-ES" dirty="0"/>
              <a:t>Después de uno minutos, el cluster Kubernetes está funcionando con cinco VMs (un master node y cuatro nodos):</a:t>
            </a:r>
          </a:p>
        </p:txBody>
      </p:sp>
      <p:sp>
        <p:nvSpPr>
          <p:cNvPr id="3" name="Rectangle 3">
            <a:extLst>
              <a:ext uri="{FF2B5EF4-FFF2-40B4-BE49-F238E27FC236}">
                <a16:creationId xmlns:a16="http://schemas.microsoft.com/office/drawing/2014/main" id="{B7DB2A0F-987A-4869-B5B3-C77E54B5C28F}"/>
              </a:ext>
            </a:extLst>
          </p:cNvPr>
          <p:cNvSpPr>
            <a:spLocks noChangeArrowheads="1"/>
          </p:cNvSpPr>
          <p:nvPr/>
        </p:nvSpPr>
        <p:spPr bwMode="auto">
          <a:xfrm>
            <a:off x="0" y="2263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8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9" name="Imagen 8" descr="http://www.open3s.com/wp-content/uploads/2017/10/nutanix-kubernetes-5.jpg">
            <a:extLst>
              <a:ext uri="{FF2B5EF4-FFF2-40B4-BE49-F238E27FC236}">
                <a16:creationId xmlns:a16="http://schemas.microsoft.com/office/drawing/2014/main" id="{934D8520-671C-4DC7-B0E1-1D967BA143C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744461" y="2624106"/>
            <a:ext cx="7660795" cy="3918840"/>
          </a:xfrm>
          <a:prstGeom prst="rect">
            <a:avLst/>
          </a:prstGeom>
          <a:noFill/>
          <a:ln>
            <a:noFill/>
          </a:ln>
        </p:spPr>
      </p:pic>
    </p:spTree>
    <p:extLst>
      <p:ext uri="{BB962C8B-B14F-4D97-AF65-F5344CB8AC3E}">
        <p14:creationId xmlns:p14="http://schemas.microsoft.com/office/powerpoint/2010/main" val="3241651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754326"/>
          </a:xfrm>
          <a:prstGeom prst="rect">
            <a:avLst/>
          </a:prstGeom>
        </p:spPr>
        <p:txBody>
          <a:bodyPr wrap="square">
            <a:spAutoFit/>
          </a:bodyPr>
          <a:lstStyle/>
          <a:p>
            <a:pPr fontAlgn="base"/>
            <a:r>
              <a:rPr lang="es-ES" sz="3600" kern="1800" dirty="0">
                <a:solidFill>
                  <a:srgbClr val="4D4D4D"/>
                </a:solidFill>
                <a:latin typeface="Helvetica" panose="020B0604020202020204" pitchFamily="34" charset="0"/>
                <a:cs typeface="Times New Roman" panose="02020603050405020304" pitchFamily="18" charset="0"/>
              </a:rPr>
              <a:t>Provisionar un cluster de cuatro nodos con máquinas Google Compute Engine usando el mismo blueprint Kubernetes de Nutanix Calm</a:t>
            </a:r>
          </a:p>
        </p:txBody>
      </p:sp>
      <p:sp>
        <p:nvSpPr>
          <p:cNvPr id="3" name="Rectangle 3">
            <a:extLst>
              <a:ext uri="{FF2B5EF4-FFF2-40B4-BE49-F238E27FC236}">
                <a16:creationId xmlns:a16="http://schemas.microsoft.com/office/drawing/2014/main" id="{B7DB2A0F-987A-4869-B5B3-C77E54B5C28F}"/>
              </a:ext>
            </a:extLst>
          </p:cNvPr>
          <p:cNvSpPr>
            <a:spLocks noChangeArrowheads="1"/>
          </p:cNvSpPr>
          <p:nvPr/>
        </p:nvSpPr>
        <p:spPr bwMode="auto">
          <a:xfrm>
            <a:off x="0" y="2263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8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2" name="Rectángulo 1">
            <a:extLst>
              <a:ext uri="{FF2B5EF4-FFF2-40B4-BE49-F238E27FC236}">
                <a16:creationId xmlns:a16="http://schemas.microsoft.com/office/drawing/2014/main" id="{0ACB5375-434C-4CE7-8E11-AB83EB4F04D0}"/>
              </a:ext>
            </a:extLst>
          </p:cNvPr>
          <p:cNvSpPr/>
          <p:nvPr/>
        </p:nvSpPr>
        <p:spPr>
          <a:xfrm>
            <a:off x="858415" y="2540773"/>
            <a:ext cx="9461241" cy="923330"/>
          </a:xfrm>
          <a:prstGeom prst="rect">
            <a:avLst/>
          </a:prstGeom>
        </p:spPr>
        <p:txBody>
          <a:bodyPr wrap="square">
            <a:spAutoFit/>
          </a:bodyPr>
          <a:lstStyle/>
          <a:p>
            <a:r>
              <a:rPr lang="es-ES" dirty="0">
                <a:solidFill>
                  <a:srgbClr val="4D4D4D"/>
                </a:solidFill>
                <a:latin typeface="Helvetica" panose="020B0604020202020204" pitchFamily="34" charset="0"/>
                <a:ea typeface="Times New Roman" panose="02020603050405020304" pitchFamily="18" charset="0"/>
                <a:cs typeface="Times New Roman" panose="02020603050405020304" pitchFamily="18" charset="0"/>
              </a:rPr>
              <a:t>Usando Nutanix Calm podemos ahora desplegar el blueprint Kubernetes en GCP.El cluster Kubernetes quedará listo y en funcionamiento con Compute Engines en pocos minutos, de nuevo con cinco VMs (un master node y cuatro nodos):</a:t>
            </a:r>
            <a:endParaRPr lang="es-ES" dirty="0"/>
          </a:p>
        </p:txBody>
      </p:sp>
      <p:pic>
        <p:nvPicPr>
          <p:cNvPr id="10" name="Imagen 9" descr="http://www.open3s.com/wp-content/uploads/2017/10/nutanix-kubernetes-6.jpg">
            <a:extLst>
              <a:ext uri="{FF2B5EF4-FFF2-40B4-BE49-F238E27FC236}">
                <a16:creationId xmlns:a16="http://schemas.microsoft.com/office/drawing/2014/main" id="{E761B425-C7DF-4FF6-A225-1DC98BC0DC0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201662" y="3429000"/>
            <a:ext cx="7436860" cy="3070157"/>
          </a:xfrm>
          <a:prstGeom prst="rect">
            <a:avLst/>
          </a:prstGeom>
          <a:noFill/>
          <a:ln>
            <a:noFill/>
          </a:ln>
        </p:spPr>
      </p:pic>
    </p:spTree>
    <p:extLst>
      <p:ext uri="{BB962C8B-B14F-4D97-AF65-F5344CB8AC3E}">
        <p14:creationId xmlns:p14="http://schemas.microsoft.com/office/powerpoint/2010/main" val="2279832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754326"/>
          </a:xfrm>
          <a:prstGeom prst="rect">
            <a:avLst/>
          </a:prstGeom>
        </p:spPr>
        <p:txBody>
          <a:bodyPr wrap="square">
            <a:spAutoFit/>
          </a:bodyPr>
          <a:lstStyle/>
          <a:p>
            <a:pPr fontAlgn="base"/>
            <a:r>
              <a:rPr lang="es-ES" sz="3600" kern="1800" dirty="0">
                <a:solidFill>
                  <a:srgbClr val="4D4D4D"/>
                </a:solidFill>
                <a:latin typeface="Helvetica" panose="020B0604020202020204" pitchFamily="34" charset="0"/>
                <a:cs typeface="Times New Roman" panose="02020603050405020304" pitchFamily="18" charset="0"/>
              </a:rPr>
              <a:t>Provisionar un cluster de cuatro nodos con máquinas Google Compute Engine usando el mismo blueprint Kubernetes de Nutanix Calm</a:t>
            </a:r>
          </a:p>
        </p:txBody>
      </p:sp>
      <p:sp>
        <p:nvSpPr>
          <p:cNvPr id="3" name="Rectangle 3">
            <a:extLst>
              <a:ext uri="{FF2B5EF4-FFF2-40B4-BE49-F238E27FC236}">
                <a16:creationId xmlns:a16="http://schemas.microsoft.com/office/drawing/2014/main" id="{B7DB2A0F-987A-4869-B5B3-C77E54B5C28F}"/>
              </a:ext>
            </a:extLst>
          </p:cNvPr>
          <p:cNvSpPr>
            <a:spLocks noChangeArrowheads="1"/>
          </p:cNvSpPr>
          <p:nvPr/>
        </p:nvSpPr>
        <p:spPr bwMode="auto">
          <a:xfrm>
            <a:off x="0" y="2263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8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pic>
        <p:nvPicPr>
          <p:cNvPr id="6" name="Imagen 5" descr="http://www.open3s.com/wp-content/uploads/2017/10/nutanix-kubernetes-7.jpg">
            <a:extLst>
              <a:ext uri="{FF2B5EF4-FFF2-40B4-BE49-F238E27FC236}">
                <a16:creationId xmlns:a16="http://schemas.microsoft.com/office/drawing/2014/main" id="{4E68E27C-AC62-4F0B-849C-BFF5DD97A728}"/>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847098" y="2671432"/>
            <a:ext cx="7212926" cy="3645392"/>
          </a:xfrm>
          <a:prstGeom prst="rect">
            <a:avLst/>
          </a:prstGeom>
          <a:noFill/>
          <a:ln>
            <a:noFill/>
          </a:ln>
        </p:spPr>
      </p:pic>
    </p:spTree>
    <p:extLst>
      <p:ext uri="{BB962C8B-B14F-4D97-AF65-F5344CB8AC3E}">
        <p14:creationId xmlns:p14="http://schemas.microsoft.com/office/powerpoint/2010/main" val="21978044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200329"/>
          </a:xfrm>
          <a:prstGeom prst="rect">
            <a:avLst/>
          </a:prstGeom>
        </p:spPr>
        <p:txBody>
          <a:bodyPr wrap="square">
            <a:spAutoFit/>
          </a:bodyPr>
          <a:lstStyle/>
          <a:p>
            <a:pPr fontAlgn="base"/>
            <a:r>
              <a:rPr lang="es-ES" sz="3600" kern="1800" dirty="0">
                <a:solidFill>
                  <a:srgbClr val="4D4D4D"/>
                </a:solidFill>
                <a:latin typeface="Helvetica" panose="020B0604020202020204" pitchFamily="34" charset="0"/>
                <a:cs typeface="Times New Roman" panose="02020603050405020304" pitchFamily="18" charset="0"/>
              </a:rPr>
              <a:t>Usar Kubectl para gestionar ambos clústeres Kubernetes</a:t>
            </a:r>
          </a:p>
        </p:txBody>
      </p:sp>
      <p:sp>
        <p:nvSpPr>
          <p:cNvPr id="3" name="Rectangle 3">
            <a:extLst>
              <a:ext uri="{FF2B5EF4-FFF2-40B4-BE49-F238E27FC236}">
                <a16:creationId xmlns:a16="http://schemas.microsoft.com/office/drawing/2014/main" id="{B7DB2A0F-987A-4869-B5B3-C77E54B5C28F}"/>
              </a:ext>
            </a:extLst>
          </p:cNvPr>
          <p:cNvSpPr>
            <a:spLocks noChangeArrowheads="1"/>
          </p:cNvSpPr>
          <p:nvPr/>
        </p:nvSpPr>
        <p:spPr bwMode="auto">
          <a:xfrm>
            <a:off x="0" y="2263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8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2" name="Rectángulo 1">
            <a:extLst>
              <a:ext uri="{FF2B5EF4-FFF2-40B4-BE49-F238E27FC236}">
                <a16:creationId xmlns:a16="http://schemas.microsoft.com/office/drawing/2014/main" id="{05BA4A96-92FC-469C-8189-3AD25D4B015D}"/>
              </a:ext>
            </a:extLst>
          </p:cNvPr>
          <p:cNvSpPr/>
          <p:nvPr/>
        </p:nvSpPr>
        <p:spPr>
          <a:xfrm>
            <a:off x="727787" y="2075975"/>
            <a:ext cx="10496939" cy="646331"/>
          </a:xfrm>
          <a:prstGeom prst="rect">
            <a:avLst/>
          </a:prstGeom>
        </p:spPr>
        <p:txBody>
          <a:bodyPr wrap="square">
            <a:spAutoFit/>
          </a:bodyPr>
          <a:lstStyle/>
          <a:p>
            <a:r>
              <a:rPr lang="es-ES" dirty="0">
                <a:solidFill>
                  <a:srgbClr val="4D4D4D"/>
                </a:solidFill>
                <a:latin typeface="Helvetica" panose="020B0604020202020204" pitchFamily="34" charset="0"/>
                <a:ea typeface="Times New Roman" panose="02020603050405020304" pitchFamily="18" charset="0"/>
                <a:cs typeface="Times New Roman" panose="02020603050405020304" pitchFamily="18" charset="0"/>
              </a:rPr>
              <a:t>Ahora ya se puede apuntar a cada clúster del entorno híbrido y usar kubectl para ejecutar  comandos básicos. Primero SSH para acceder y lanzar algunos comandos en el entorno on-premise.</a:t>
            </a:r>
            <a:endParaRPr lang="es-ES" dirty="0"/>
          </a:p>
        </p:txBody>
      </p:sp>
      <p:sp>
        <p:nvSpPr>
          <p:cNvPr id="4" name="Rectángulo 3">
            <a:extLst>
              <a:ext uri="{FF2B5EF4-FFF2-40B4-BE49-F238E27FC236}">
                <a16:creationId xmlns:a16="http://schemas.microsoft.com/office/drawing/2014/main" id="{0AD7B0FD-4377-415C-9644-4483FFE66970}"/>
              </a:ext>
            </a:extLst>
          </p:cNvPr>
          <p:cNvSpPr/>
          <p:nvPr/>
        </p:nvSpPr>
        <p:spPr>
          <a:xfrm>
            <a:off x="662472" y="2722306"/>
            <a:ext cx="10627567" cy="4007315"/>
          </a:xfrm>
          <a:prstGeom prst="rect">
            <a:avLst/>
          </a:prstGeom>
        </p:spPr>
        <p:txBody>
          <a:bodyPr wrap="square">
            <a:spAutoFit/>
          </a:bodyPr>
          <a:lstStyle/>
          <a:p>
            <a:pPr fontAlgn="base">
              <a:lnSpc>
                <a:spcPct val="107000"/>
              </a:lnSpc>
              <a:spcAft>
                <a:spcPts val="0"/>
              </a:spcAft>
            </a:pPr>
            <a:r>
              <a:rPr lang="es-ES" sz="1400" dirty="0">
                <a:solidFill>
                  <a:srgbClr val="4D4D4D"/>
                </a:solidFill>
                <a:effectLst/>
                <a:latin typeface="Helvetica" panose="020B0604020202020204" pitchFamily="34" charset="0"/>
                <a:ea typeface="Times New Roman" panose="02020603050405020304" pitchFamily="18" charset="0"/>
                <a:cs typeface="Times New Roman" panose="02020603050405020304" pitchFamily="18" charset="0"/>
              </a:rPr>
              <a:t>.</a:t>
            </a:r>
            <a:r>
              <a:rPr lang="es-E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 </a:t>
            </a: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List out the nodes in the cluster$ kubectl get nodes</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NAME STATUS AGE</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10.21.80.54 Ready 16m</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10.21.80.59 Ready 16m</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10.21.80.65 Ready 16m</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10.21.80.67 Ready 16m</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 View the cluster config$ kubectl config </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viewapiVersion: v1clusters:- cluster:server: http://10.21.80.66:8080name: default-clustercontexts:- context:cluster: default-clusteruser: default-adminname: default-contextcurrent-context: default-contextkind: Configpreferences: {}users: []</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 Describe the storageclass configured. This is the Nutanix storage volume plugin for Kubernetes</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 kubectl get storageclass</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NAME KIND</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silver StorageClass.v1.storage.k8s.io</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 kubectl describe storageclass silverName: </a:t>
            </a:r>
          </a:p>
          <a:p>
            <a:pPr fontAlgn="base">
              <a:lnSpc>
                <a:spcPct val="107000"/>
              </a:lnSpc>
              <a:spcAft>
                <a:spcPts val="0"/>
              </a:spcAft>
            </a:pPr>
            <a:r>
              <a:rPr lang="en-US" sz="1400" dirty="0">
                <a:solidFill>
                  <a:srgbClr val="4D4D4D"/>
                </a:solidFill>
                <a:latin typeface="Courier New" panose="02070309020205020404" pitchFamily="49" charset="0"/>
                <a:ea typeface="Times New Roman" panose="02020603050405020304" pitchFamily="18" charset="0"/>
                <a:cs typeface="Times New Roman" panose="02020603050405020304" pitchFamily="18" charset="0"/>
              </a:rPr>
              <a:t>silverIsDefaultClass: NoAnnotations: storageclass.kubernetes.io/is-default-class=trueProvisioner: kubernetes.io/nutanix-volume</a:t>
            </a:r>
            <a:endParaRPr lang="es-E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012896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200329"/>
          </a:xfrm>
          <a:prstGeom prst="rect">
            <a:avLst/>
          </a:prstGeom>
        </p:spPr>
        <p:txBody>
          <a:bodyPr wrap="square">
            <a:spAutoFit/>
          </a:bodyPr>
          <a:lstStyle/>
          <a:p>
            <a:pPr fontAlgn="base"/>
            <a:r>
              <a:rPr lang="es-ES" sz="3600" kern="1800" dirty="0">
                <a:solidFill>
                  <a:srgbClr val="4D4D4D"/>
                </a:solidFill>
                <a:latin typeface="Helvetica" panose="020B0604020202020204" pitchFamily="34" charset="0"/>
                <a:cs typeface="Times New Roman" panose="02020603050405020304" pitchFamily="18" charset="0"/>
              </a:rPr>
              <a:t>Usar Helm para desplegar la misma chart WordPress en ambos clústeres</a:t>
            </a:r>
          </a:p>
        </p:txBody>
      </p:sp>
      <p:sp>
        <p:nvSpPr>
          <p:cNvPr id="3" name="Rectangle 3">
            <a:extLst>
              <a:ext uri="{FF2B5EF4-FFF2-40B4-BE49-F238E27FC236}">
                <a16:creationId xmlns:a16="http://schemas.microsoft.com/office/drawing/2014/main" id="{B7DB2A0F-987A-4869-B5B3-C77E54B5C28F}"/>
              </a:ext>
            </a:extLst>
          </p:cNvPr>
          <p:cNvSpPr>
            <a:spLocks noChangeArrowheads="1"/>
          </p:cNvSpPr>
          <p:nvPr/>
        </p:nvSpPr>
        <p:spPr bwMode="auto">
          <a:xfrm>
            <a:off x="0" y="2263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8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2" name="Rectángulo 1">
            <a:extLst>
              <a:ext uri="{FF2B5EF4-FFF2-40B4-BE49-F238E27FC236}">
                <a16:creationId xmlns:a16="http://schemas.microsoft.com/office/drawing/2014/main" id="{05BA4A96-92FC-469C-8189-3AD25D4B015D}"/>
              </a:ext>
            </a:extLst>
          </p:cNvPr>
          <p:cNvSpPr/>
          <p:nvPr/>
        </p:nvSpPr>
        <p:spPr>
          <a:xfrm>
            <a:off x="587828" y="1821656"/>
            <a:ext cx="10496939" cy="1200329"/>
          </a:xfrm>
          <a:prstGeom prst="rect">
            <a:avLst/>
          </a:prstGeom>
        </p:spPr>
        <p:txBody>
          <a:bodyPr wrap="square">
            <a:spAutoFit/>
          </a:bodyPr>
          <a:lstStyle/>
          <a:p>
            <a:r>
              <a:rPr lang="es-ES" dirty="0"/>
              <a:t>Helm es un gestor de paquetes usado para instalar y gestionar aplicaciones Kubernetes. </a:t>
            </a:r>
            <a:r>
              <a:rPr lang="en-US" dirty="0"/>
              <a:t>Los blueprints de Kubernetes para Calm </a:t>
            </a:r>
            <a:r>
              <a:rPr lang="es-ES_tradnl" dirty="0"/>
              <a:t>incluyen</a:t>
            </a:r>
            <a:r>
              <a:rPr lang="en-US" dirty="0"/>
              <a:t> Helm como parte del setup del clúster.  Esto permite realizar provisionamiento de storage, para que automáticamente crear volúmenes persistentes de Kubernetes para los pods on-premise y </a:t>
            </a:r>
            <a:r>
              <a:rPr lang="es-ES_tradnl" dirty="0"/>
              <a:t>en</a:t>
            </a:r>
            <a:r>
              <a:rPr lang="en-US" dirty="0"/>
              <a:t> Google Cloud</a:t>
            </a:r>
            <a:endParaRPr lang="es-ES" dirty="0"/>
          </a:p>
        </p:txBody>
      </p:sp>
      <p:sp>
        <p:nvSpPr>
          <p:cNvPr id="4" name="Rectángulo 3">
            <a:extLst>
              <a:ext uri="{FF2B5EF4-FFF2-40B4-BE49-F238E27FC236}">
                <a16:creationId xmlns:a16="http://schemas.microsoft.com/office/drawing/2014/main" id="{0AD7B0FD-4377-415C-9644-4483FFE66970}"/>
              </a:ext>
            </a:extLst>
          </p:cNvPr>
          <p:cNvSpPr/>
          <p:nvPr/>
        </p:nvSpPr>
        <p:spPr>
          <a:xfrm>
            <a:off x="727788" y="3255959"/>
            <a:ext cx="10627567" cy="2624245"/>
          </a:xfrm>
          <a:prstGeom prst="rect">
            <a:avLst/>
          </a:prstGeom>
        </p:spPr>
        <p:txBody>
          <a:bodyPr wrap="square">
            <a:spAutoFit/>
          </a:bodyPr>
          <a:lstStyle/>
          <a:p>
            <a:pPr fontAlgn="base">
              <a:lnSpc>
                <a:spcPct val="107000"/>
              </a:lnSpc>
              <a:spcAft>
                <a:spcPts val="0"/>
              </a:spcAft>
            </a:pPr>
            <a:r>
              <a:rPr lang="en-US" sz="1400" dirty="0">
                <a:solidFill>
                  <a:srgbClr val="4D4D4D"/>
                </a:solidFill>
                <a:latin typeface="Courier New" panose="02070309020205020404" pitchFamily="49" charset="0"/>
                <a:cs typeface="Times New Roman" panose="02020603050405020304" pitchFamily="18" charset="0"/>
              </a:rPr>
              <a:t>wordpress$ helm install wordpress-0.6.4.tgz</a:t>
            </a:r>
          </a:p>
          <a:p>
            <a:pPr fontAlgn="base">
              <a:lnSpc>
                <a:spcPct val="107000"/>
              </a:lnSpc>
              <a:spcAft>
                <a:spcPts val="0"/>
              </a:spcAft>
            </a:pPr>
            <a:r>
              <a:rPr lang="en-US" sz="1400" dirty="0">
                <a:solidFill>
                  <a:srgbClr val="4D4D4D"/>
                </a:solidFill>
                <a:latin typeface="Courier New" panose="02070309020205020404" pitchFamily="49" charset="0"/>
                <a:cs typeface="Times New Roman" panose="02020603050405020304" pitchFamily="18" charset="0"/>
              </a:rPr>
              <a:t>NAME: quaffing-crabLAST DEPLOYED: Sun Jul 2 03:32:21 2017</a:t>
            </a:r>
          </a:p>
          <a:p>
            <a:pPr fontAlgn="base">
              <a:lnSpc>
                <a:spcPct val="107000"/>
              </a:lnSpc>
              <a:spcAft>
                <a:spcPts val="0"/>
              </a:spcAft>
            </a:pPr>
            <a:r>
              <a:rPr lang="en-US" sz="1400" dirty="0">
                <a:solidFill>
                  <a:srgbClr val="4D4D4D"/>
                </a:solidFill>
                <a:latin typeface="Courier New" panose="02070309020205020404" pitchFamily="49" charset="0"/>
                <a:cs typeface="Times New Roman" panose="02020603050405020304" pitchFamily="18" charset="0"/>
              </a:rPr>
              <a:t>NAMESPACE: defaultSTATUS: </a:t>
            </a:r>
          </a:p>
          <a:p>
            <a:pPr fontAlgn="base">
              <a:lnSpc>
                <a:spcPct val="107000"/>
              </a:lnSpc>
              <a:spcAft>
                <a:spcPts val="0"/>
              </a:spcAft>
            </a:pPr>
            <a:r>
              <a:rPr lang="en-US" sz="1400" dirty="0">
                <a:solidFill>
                  <a:srgbClr val="4D4D4D"/>
                </a:solidFill>
                <a:latin typeface="Courier New" panose="02070309020205020404" pitchFamily="49" charset="0"/>
                <a:cs typeface="Times New Roman" panose="02020603050405020304" pitchFamily="18" charset="0"/>
              </a:rPr>
              <a:t>DEPLOYEDRESOURCES:==&gt; v1/SecretNAME TYPE DATA AGEquaffing-crab-mariadb Opaque 2 1squaffing-crab-wordpress Opaque 3 1s==&gt; v1/ConfigMapNAME DATA AGEquaffing-crab-mariadb 1 1s==&gt; v1/PersistentVolumeClaimNAME </a:t>
            </a:r>
          </a:p>
          <a:p>
            <a:pPr fontAlgn="base">
              <a:lnSpc>
                <a:spcPct val="107000"/>
              </a:lnSpc>
              <a:spcAft>
                <a:spcPts val="0"/>
              </a:spcAft>
            </a:pPr>
            <a:r>
              <a:rPr lang="en-US" sz="1400" dirty="0">
                <a:solidFill>
                  <a:srgbClr val="4D4D4D"/>
                </a:solidFill>
                <a:latin typeface="Courier New" panose="02070309020205020404" pitchFamily="49" charset="0"/>
                <a:cs typeface="Times New Roman" panose="02020603050405020304" pitchFamily="18" charset="0"/>
              </a:rPr>
              <a:t>STATUS VOLUME CAPACITY ACCESSMODES STORAGECLASS AGEquaffing-crab-wordpress Pending silver 1squaffing-crab-mariadb Pending silver 1s==&gt; v1/ServiceNAME CLUSTER-IP EXTERNAL-IP PORT(S) AGEquaffing-crab-mariadb 10.21.150.254 3306/TCP 1squaffing-crab-wordpress 10.21.150.73 80:32376/TCP,443:30998/TCP 1s==&gt; v1beta1/DeploymentNAME DESIRED CURRENT UP-TO-DATE AVAILABLE AGEquaffing-crab-wordpress 1 1 1 0 1squaffing-crab-mariadb</a:t>
            </a:r>
            <a:endParaRPr lang="es-ES" sz="1400" dirty="0">
              <a:solidFill>
                <a:srgbClr val="4D4D4D"/>
              </a:solidFill>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21846114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2E134785-E973-4513-820D-57B6EBC18A43}"/>
              </a:ext>
            </a:extLst>
          </p:cNvPr>
          <p:cNvSpPr/>
          <p:nvPr/>
        </p:nvSpPr>
        <p:spPr>
          <a:xfrm>
            <a:off x="858416" y="621327"/>
            <a:ext cx="10496939" cy="1200329"/>
          </a:xfrm>
          <a:prstGeom prst="rect">
            <a:avLst/>
          </a:prstGeom>
        </p:spPr>
        <p:txBody>
          <a:bodyPr wrap="square">
            <a:spAutoFit/>
          </a:bodyPr>
          <a:lstStyle/>
          <a:p>
            <a:pPr fontAlgn="base"/>
            <a:r>
              <a:rPr lang="es-ES" sz="3600" kern="1800" dirty="0">
                <a:solidFill>
                  <a:srgbClr val="4D4D4D"/>
                </a:solidFill>
                <a:latin typeface="Helvetica" panose="020B0604020202020204" pitchFamily="34" charset="0"/>
                <a:cs typeface="Times New Roman" panose="02020603050405020304" pitchFamily="18" charset="0"/>
              </a:rPr>
              <a:t>Usar Helm para desplegar la misma chart WordPress en ambos clústeres</a:t>
            </a:r>
          </a:p>
        </p:txBody>
      </p:sp>
      <p:sp>
        <p:nvSpPr>
          <p:cNvPr id="3" name="Rectangle 3">
            <a:extLst>
              <a:ext uri="{FF2B5EF4-FFF2-40B4-BE49-F238E27FC236}">
                <a16:creationId xmlns:a16="http://schemas.microsoft.com/office/drawing/2014/main" id="{B7DB2A0F-987A-4869-B5B3-C77E54B5C28F}"/>
              </a:ext>
            </a:extLst>
          </p:cNvPr>
          <p:cNvSpPr>
            <a:spLocks noChangeArrowheads="1"/>
          </p:cNvSpPr>
          <p:nvPr/>
        </p:nvSpPr>
        <p:spPr bwMode="auto">
          <a:xfrm>
            <a:off x="0" y="2263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ES" altLang="es-ES" sz="800" b="0" i="0" u="none" strike="noStrike" cap="none" normalizeH="0" baseline="0" dirty="0">
                <a:ln>
                  <a:noFill/>
                </a:ln>
                <a:solidFill>
                  <a:schemeClr val="tx1"/>
                </a:solidFill>
                <a:effectLst/>
              </a:rPr>
              <a:t> </a:t>
            </a:r>
            <a:endParaRPr kumimoji="0" lang="es-ES" altLang="es-ES" sz="1800" b="0" i="0" u="none" strike="noStrike" cap="none" normalizeH="0" baseline="0" dirty="0">
              <a:ln>
                <a:noFill/>
              </a:ln>
              <a:solidFill>
                <a:schemeClr val="tx1"/>
              </a:solidFill>
              <a:effectLst/>
              <a:latin typeface="Arial" panose="020B0604020202020204" pitchFamily="34" charset="0"/>
            </a:endParaRPr>
          </a:p>
        </p:txBody>
      </p:sp>
      <p:sp>
        <p:nvSpPr>
          <p:cNvPr id="2" name="Rectángulo 1">
            <a:extLst>
              <a:ext uri="{FF2B5EF4-FFF2-40B4-BE49-F238E27FC236}">
                <a16:creationId xmlns:a16="http://schemas.microsoft.com/office/drawing/2014/main" id="{05BA4A96-92FC-469C-8189-3AD25D4B015D}"/>
              </a:ext>
            </a:extLst>
          </p:cNvPr>
          <p:cNvSpPr/>
          <p:nvPr/>
        </p:nvSpPr>
        <p:spPr>
          <a:xfrm>
            <a:off x="587828" y="1821656"/>
            <a:ext cx="10496939" cy="369332"/>
          </a:xfrm>
          <a:prstGeom prst="rect">
            <a:avLst/>
          </a:prstGeom>
        </p:spPr>
        <p:txBody>
          <a:bodyPr wrap="square">
            <a:spAutoFit/>
          </a:bodyPr>
          <a:lstStyle/>
          <a:p>
            <a:r>
              <a:rPr lang="en-US" dirty="0"/>
              <a:t>Ahora, se pueden correr los comandos kubetcl para explorar el despligue on-premise</a:t>
            </a:r>
            <a:endParaRPr lang="es-ES" dirty="0"/>
          </a:p>
        </p:txBody>
      </p:sp>
      <p:sp>
        <p:nvSpPr>
          <p:cNvPr id="4" name="Rectángulo 3">
            <a:extLst>
              <a:ext uri="{FF2B5EF4-FFF2-40B4-BE49-F238E27FC236}">
                <a16:creationId xmlns:a16="http://schemas.microsoft.com/office/drawing/2014/main" id="{0AD7B0FD-4377-415C-9644-4483FFE66970}"/>
              </a:ext>
            </a:extLst>
          </p:cNvPr>
          <p:cNvSpPr/>
          <p:nvPr/>
        </p:nvSpPr>
        <p:spPr>
          <a:xfrm>
            <a:off x="653143" y="2263775"/>
            <a:ext cx="10627567" cy="3546292"/>
          </a:xfrm>
          <a:prstGeom prst="rect">
            <a:avLst/>
          </a:prstGeom>
        </p:spPr>
        <p:txBody>
          <a:bodyPr wrap="square">
            <a:spAutoFit/>
          </a:bodyPr>
          <a:lstStyle/>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 Take a look at the persistent volume claims$ kubectl get pvc </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NAME STATUS VOLUME CAPACITY   ACCESSMODES   AGE</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quaffing-crab mariadb Bound 94d90daca29eaafa7439b33cc26187536e2fcdfc20d78deddda6606db506a646-nutanix-k8-volume   8Gi       RWO           1mquaffing-crab wordpress   Bound     764e5462d809a82165863af8423a3e0a52b546dd97211dfdec5e24b1e448b63c-nutanix-k8-volume   10Gi       RWO          </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 Take a look at the running pods$ kubectl get pod NAME   READY     STATUS   RESTARTS   AGE</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quaffing-crab-mariadb-3339155510-428wb   1/1       Running   0         </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3mquaffing-crab-wordpress-713434103-5j613   1/1       Running   0         </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 Take a look at the services exposed$ kubectl get svc</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NAME CLUSTER-IP EXTERNAL IPPORT(S)</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AGE</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kubernetes 10.254.0.1  443/TCP</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16dquaffing-crab-mariadb     10.21.150.254           3306/TCP</a:t>
            </a:r>
          </a:p>
          <a:p>
            <a:pPr fontAlgn="base">
              <a:lnSpc>
                <a:spcPct val="107000"/>
              </a:lnSpc>
            </a:pPr>
            <a:r>
              <a:rPr lang="en-US" sz="1400" dirty="0">
                <a:solidFill>
                  <a:srgbClr val="4D4D4D"/>
                </a:solidFill>
                <a:latin typeface="Courier New" panose="02070309020205020404" pitchFamily="49" charset="0"/>
                <a:cs typeface="Times New Roman" panose="02020603050405020304" pitchFamily="18" charset="0"/>
              </a:rPr>
              <a:t>4mquaffing-crab-wordpress   10.21.150.73   #.#.#.#     </a:t>
            </a:r>
            <a:r>
              <a:rPr lang="es-ES" sz="1400" dirty="0">
                <a:solidFill>
                  <a:srgbClr val="4D4D4D"/>
                </a:solidFill>
                <a:latin typeface="Courier New" panose="02070309020205020404" pitchFamily="49" charset="0"/>
                <a:cs typeface="Times New Roman" panose="02020603050405020304" pitchFamily="18" charset="0"/>
              </a:rPr>
              <a:t>80:32376/TCP,443:30998/TCP</a:t>
            </a:r>
          </a:p>
        </p:txBody>
      </p:sp>
    </p:spTree>
    <p:extLst>
      <p:ext uri="{BB962C8B-B14F-4D97-AF65-F5344CB8AC3E}">
        <p14:creationId xmlns:p14="http://schemas.microsoft.com/office/powerpoint/2010/main" val="13672775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913</Words>
  <Application>Microsoft Office PowerPoint</Application>
  <PresentationFormat>Panorámica</PresentationFormat>
  <Paragraphs>64</Paragraphs>
  <Slides>10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Arial</vt:lpstr>
      <vt:lpstr>Calibri</vt:lpstr>
      <vt:lpstr>Calibri Light</vt:lpstr>
      <vt:lpstr>Courier New</vt:lpstr>
      <vt:lpstr>Helvetica</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Josemanuel Fernandez (UST, ESP)</dc:creator>
  <cp:lastModifiedBy>Jose Manuel Fernandez Caballero(UST,ES)</cp:lastModifiedBy>
  <cp:revision>5</cp:revision>
  <dcterms:created xsi:type="dcterms:W3CDTF">2019-06-24T18:25:13Z</dcterms:created>
  <dcterms:modified xsi:type="dcterms:W3CDTF">2020-08-14T10:20:33Z</dcterms:modified>
</cp:coreProperties>
</file>
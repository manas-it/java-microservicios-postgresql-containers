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A3595-D280-4A0D-9988-9EA49C95F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8FDA1-E5E8-4253-A4E6-0CD47644B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C9DB56-586C-420E-8B3C-8299B0FA1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03/11/2020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A26E90-36A4-4FFE-BE07-09368510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BC845E-B887-4785-B4B4-F4790380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0163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E3CF4-463E-4F69-98D8-A9F0BE27A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DC534E-5ED9-40C7-9193-57C3CD783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606266-5C91-4E89-92CE-2FD0F64B9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03/11/2020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DB2669-C6C1-49D3-9E58-BCEC8D78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526089-E024-4D26-9000-4D7302FF0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57512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A6124-18EA-4484-AFE5-EF2B5D092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AD55FE-D99E-40EE-992D-01423FA3F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5C2933-EDEB-48E1-AE21-771A6BB69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03/11/2020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5CBF05-A98A-4E2E-A714-777CF680A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16B26B-6491-42E1-B407-FA004A96A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3646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1F306-A33F-48FE-B6E3-4F8B97523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EC1991-E2DC-47AF-BB3A-98B3A32C5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3E1C43-72B6-4053-943A-DE335E3FA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843855-5B48-458F-872B-7FF5CE904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03/11/2020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4C4F48D-9FDE-478A-BA7E-7683C7714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04B02E-9B99-4499-ADEE-37FD162F0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941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4E75C-32C8-44D2-8AA1-28E686FEC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CCB050-8F3C-450C-AA60-E7E5E9476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6C04BB-F0F9-47B0-B8E3-B12037CD2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8AB6CD0-740F-4F2D-9449-52DEFBF89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1A32471-9780-4185-9B52-5816C8CC8B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874B27E-72C3-4F50-80FB-13380997F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03/11/2020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206646-B103-49C1-AF5E-7D146DA50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E9C49CC-758F-4047-9EAC-C667DB3EB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0961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B3A24-ECA4-4ABF-ABAD-B42AE4450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A205861-5FCD-4857-8683-58CD0DBC6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03/11/2020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B5D106C-7E02-48B6-B668-1420A5522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2E5B02-143E-4B39-8C2D-716CA1291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4473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B37B887-6376-490C-BD85-8779F4AB7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03/11/2020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52D4586-D47A-4F07-90AA-8D9152348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4CD051-DC3B-4B7A-AD5C-8079D9BB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852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DA9C2-2DEA-450A-96D1-41D5441AC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F92D33-7041-4F0A-A003-C777CB395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66FB79-8F8C-4A59-ABED-B4119790C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F460DE-58E7-4093-A5DC-E84A74A65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03/11/2020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27A1B3-2C3D-4ED3-A7B4-D3E7653AD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2CBFCB-D336-4672-B19C-AF6DEF1E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8622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7BD7C-6659-4553-8BFB-2B62EC53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503AC9-7241-4CB5-873D-322D64AC1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6FF7BF-6BDC-4B7D-8D39-8194433C3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419A63-FD20-4014-9265-31370AB5E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03/11/2020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B9065C-D0F1-4356-B9FE-C93FFBE50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24BBBE-C538-4E03-8CE4-D8B0A3D2B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1468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278FA-6331-4F43-AE90-AF77D8708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195476-6356-4730-8B64-F38FBD821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B047FB-C57E-42E4-8DDA-D8B64434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03/11/2020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9D9CEF-B8BC-48AF-A2B1-8A135B5A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2E9424-27F0-4D42-B476-F0BB4C50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25183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C505B-FBCB-4DC6-BD42-6DDB41944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4A7345-5C43-41EB-BBFF-2E0EFC6E2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C3B38D-1118-496B-A0BC-DE33AD895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03/11/2020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FECF1D-60DD-48C5-8DDF-179542566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AAB894-D435-480D-898A-AB8F03AE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383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C19CA5C-03D3-46B5-A860-59835DD5E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3497B5-7F32-4244-9297-36F11F28A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719609-C167-43E3-BCBA-95E5634D1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0442E-1929-4ECC-8560-C19CCE76AC21}" type="datetimeFigureOut">
              <a:rPr lang="es-ES" smtClean="0"/>
              <a:t>03/11/2020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A4E284-E64C-4476-A0B6-68F07F59B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5B1383-4B51-4011-B462-FFC05FA93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770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1248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Autenticación y autorización de usuario en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44F380-A859-486C-9C46-997822D31F75}"/>
              </a:ext>
            </a:extLst>
          </p:cNvPr>
          <p:cNvSpPr txBox="1"/>
          <p:nvPr/>
        </p:nvSpPr>
        <p:spPr>
          <a:xfrm>
            <a:off x="559837" y="2015412"/>
            <a:ext cx="10496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Kubernetes Architecture </a:t>
            </a:r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FB2A4DE-B235-41D2-827D-5737A88DF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713" y="2593910"/>
            <a:ext cx="8091899" cy="413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286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1248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Autenticación y autorización de usuario en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44F380-A859-486C-9C46-997822D31F75}"/>
              </a:ext>
            </a:extLst>
          </p:cNvPr>
          <p:cNvSpPr txBox="1"/>
          <p:nvPr/>
        </p:nvSpPr>
        <p:spPr>
          <a:xfrm>
            <a:off x="559837" y="2015412"/>
            <a:ext cx="104969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Solicitud de API de Kubernetes 
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E1A79E6-772E-49DF-938D-36A8A49ED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053" y="2881977"/>
            <a:ext cx="8761323" cy="384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466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1248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Autenticación y autorización de usuario en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44F380-A859-486C-9C46-997822D31F75}"/>
              </a:ext>
            </a:extLst>
          </p:cNvPr>
          <p:cNvSpPr txBox="1"/>
          <p:nvPr/>
        </p:nvSpPr>
        <p:spPr>
          <a:xfrm>
            <a:off x="559837" y="2015412"/>
            <a:ext cx="104969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Usuarios de Kubernetes
• Users locales son objetos de Kubernetes, como Pods.</a:t>
            </a:r>
          </a:p>
          <a:p>
            <a:r>
              <a:rPr lang="es-ES" sz="3600" dirty="0"/>
              <a:t>• en la mayoría de los casos, se descarga en servicios externos como Active </a:t>
            </a:r>
            <a:r>
              <a:rPr lang="en-US" sz="3600" dirty="0"/>
              <a:t>Directory, LDAP.</a:t>
            </a:r>
            <a:endParaRPr lang="es-ES" sz="3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84AF728-A016-4867-9595-9C17E8F72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758" y="4323736"/>
            <a:ext cx="5075096" cy="249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93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47530" y="687525"/>
            <a:ext cx="10496939" cy="1248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Autenticación y autorización de usuario en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44F380-A859-486C-9C46-997822D31F75}"/>
              </a:ext>
            </a:extLst>
          </p:cNvPr>
          <p:cNvSpPr txBox="1"/>
          <p:nvPr/>
        </p:nvSpPr>
        <p:spPr>
          <a:xfrm>
            <a:off x="590317" y="1783159"/>
            <a:ext cx="1143912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Normal Users </a:t>
            </a:r>
          </a:p>
          <a:p>
            <a:endParaRPr lang="es-ES" sz="2000" dirty="0"/>
          </a:p>
          <a:p>
            <a:r>
              <a:rPr lang="es-ES" sz="2000" dirty="0"/>
              <a:t>● Basic Authentication</a:t>
            </a:r>
          </a:p>
          <a:p>
            <a:r>
              <a:rPr lang="es-ES" sz="2000" dirty="0"/>
              <a:t> • Pasa la siguiente configuración al API Server</a:t>
            </a:r>
          </a:p>
          <a:p>
            <a:r>
              <a:rPr lang="es-ES" sz="2000" dirty="0"/>
              <a:t> &lt;password&gt;,&lt;username&gt;,&lt;uid&gt;,"&lt;group1,group2&gt;“</a:t>
            </a:r>
          </a:p>
          <a:p>
            <a:r>
              <a:rPr lang="es-ES" sz="2000" dirty="0"/>
              <a:t> &lt;password&gt;,&lt;username&gt;,&lt;uid&gt;,"&lt;group1,group3&gt;” </a:t>
            </a:r>
          </a:p>
          <a:p>
            <a:endParaRPr lang="es-ES" sz="2000" dirty="0"/>
          </a:p>
          <a:p>
            <a:r>
              <a:rPr lang="es-ES" sz="2000" dirty="0"/>
              <a:t>● X.509 Client Certificate</a:t>
            </a:r>
          </a:p>
          <a:p>
            <a:r>
              <a:rPr lang="es-ES" sz="2000" dirty="0"/>
              <a:t>○ Crear la combinación de clves pública/privada de un usuario
○ Obtener el certificado de una CA (CA de Kubernetes)</a:t>
            </a:r>
          </a:p>
          <a:p>
            <a:r>
              <a:rPr lang="es-ES" sz="2000" dirty="0"/>
              <a:t>
 ● Tokens (JSON Web Tokens)</a:t>
            </a:r>
          </a:p>
          <a:p>
            <a:r>
              <a:rPr lang="es-ES" sz="2000" dirty="0"/>
              <a:t> ○ OpenID Connect </a:t>
            </a:r>
          </a:p>
          <a:p>
            <a:r>
              <a:rPr lang="es-ES" sz="2000" dirty="0"/>
              <a:t>	■ Además de OAuth 2.0 </a:t>
            </a:r>
          </a:p>
          <a:p>
            <a:r>
              <a:rPr lang="es-ES" sz="2000" dirty="0"/>
              <a:t>		○ Webhooks </a:t>
            </a:r>
          </a:p>
        </p:txBody>
      </p:sp>
    </p:spTree>
    <p:extLst>
      <p:ext uri="{BB962C8B-B14F-4D97-AF65-F5344CB8AC3E}">
        <p14:creationId xmlns:p14="http://schemas.microsoft.com/office/powerpoint/2010/main" val="1046313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47530" y="687525"/>
            <a:ext cx="10496939" cy="1248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Autenticación y autorización de usuario en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44F380-A859-486C-9C46-997822D31F75}"/>
              </a:ext>
            </a:extLst>
          </p:cNvPr>
          <p:cNvSpPr txBox="1"/>
          <p:nvPr/>
        </p:nvSpPr>
        <p:spPr>
          <a:xfrm>
            <a:off x="590317" y="1783159"/>
            <a:ext cx="114391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Service Account </a:t>
            </a:r>
          </a:p>
          <a:p>
            <a:endParaRPr lang="en-US" sz="2000" dirty="0"/>
          </a:p>
          <a:p>
            <a:r>
              <a:rPr lang="es-ES" sz="2000" dirty="0"/>
              <a:t>• Piensa en ello como un usuario, con el que un proceso dentro de un Pod puede acceder a API Server. 
•</a:t>
            </a:r>
            <a:r>
              <a:rPr lang="en-US" sz="2000" dirty="0"/>
              <a:t> Un Service Account con el nombre por defecto,  </a:t>
            </a:r>
            <a:r>
              <a:rPr lang="es-ES" sz="2000" dirty="0"/>
              <a:t>se crea a medida que creamos un nuevo espacio de nombres</a:t>
            </a:r>
            <a:endParaRPr lang="en-US" sz="2000" dirty="0"/>
          </a:p>
          <a:p>
            <a:r>
              <a:rPr lang="es-ES" sz="2000" dirty="0"/>
              <a:t>•</a:t>
            </a:r>
            <a:r>
              <a:rPr lang="en-US" sz="2000" dirty="0"/>
              <a:t> </a:t>
            </a:r>
            <a:r>
              <a:rPr lang="es-ES" sz="2000" dirty="0"/>
              <a:t>También se pueden crear service account definidas por el usuario, que podemos adjuntar al pod que se ejecuta en el mismo espacio de nombres. </a:t>
            </a:r>
          </a:p>
        </p:txBody>
      </p:sp>
    </p:spTree>
    <p:extLst>
      <p:ext uri="{BB962C8B-B14F-4D97-AF65-F5344CB8AC3E}">
        <p14:creationId xmlns:p14="http://schemas.microsoft.com/office/powerpoint/2010/main" val="2841024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47530" y="687525"/>
            <a:ext cx="10496939" cy="1248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Autenticación y autorización de usuario en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44F380-A859-486C-9C46-997822D31F75}"/>
              </a:ext>
            </a:extLst>
          </p:cNvPr>
          <p:cNvSpPr txBox="1"/>
          <p:nvPr/>
        </p:nvSpPr>
        <p:spPr>
          <a:xfrm>
            <a:off x="590317" y="1783159"/>
            <a:ext cx="11439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Kubeconfig File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04D9445-8C0E-48BA-A223-428F8A28B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623" y="2305189"/>
            <a:ext cx="9616752" cy="446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52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47530" y="687525"/>
            <a:ext cx="10496939" cy="1248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Autenticación y autorización de usuario en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44F380-A859-486C-9C46-997822D31F75}"/>
              </a:ext>
            </a:extLst>
          </p:cNvPr>
          <p:cNvSpPr txBox="1"/>
          <p:nvPr/>
        </p:nvSpPr>
        <p:spPr>
          <a:xfrm>
            <a:off x="590317" y="1783159"/>
            <a:ext cx="11439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Flujo de autenticación</a:t>
            </a:r>
            <a:endParaRPr lang="en-US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39DAD35-E5D4-46BE-8299-807D143BA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721" y="2320014"/>
            <a:ext cx="7752080" cy="440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96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47530" y="687525"/>
            <a:ext cx="10496939" cy="1248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Autenticación y autorización de usuario en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44F380-A859-486C-9C46-997822D31F75}"/>
              </a:ext>
            </a:extLst>
          </p:cNvPr>
          <p:cNvSpPr txBox="1"/>
          <p:nvPr/>
        </p:nvSpPr>
        <p:spPr>
          <a:xfrm>
            <a:off x="590317" y="1783159"/>
            <a:ext cx="1143912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Kubernetes Authorization</a:t>
            </a:r>
          </a:p>
          <a:p>
            <a:r>
              <a:rPr lang="es-ES" sz="2000" dirty="0"/>
              <a:t>¿Puede un usuario hacer la acción solicitada? </a:t>
            </a:r>
          </a:p>
          <a:p>
            <a:r>
              <a:rPr lang="es-ES" sz="2000" dirty="0"/>
              <a:t>
</a:t>
            </a:r>
            <a:r>
              <a:rPr lang="en-US" sz="2000" dirty="0"/>
              <a:t>● Kubernetes Módulos de autorización</a:t>
            </a:r>
          </a:p>
          <a:p>
            <a:endParaRPr lang="en-US" sz="2000" dirty="0"/>
          </a:p>
          <a:p>
            <a:r>
              <a:rPr lang="en-US" sz="2000" dirty="0"/>
              <a:t>	○ Permitir siempre 
	○ Siempre Negar </a:t>
            </a:r>
          </a:p>
          <a:p>
            <a:r>
              <a:rPr lang="en-US" sz="2000" dirty="0"/>
              <a:t>	○ Node </a:t>
            </a:r>
          </a:p>
          <a:p>
            <a:r>
              <a:rPr lang="en-US" sz="2000" dirty="0"/>
              <a:t>	○ Atrributo Based Access Control (ABAC)</a:t>
            </a:r>
          </a:p>
          <a:p>
            <a:r>
              <a:rPr lang="en-US" sz="2000" dirty="0"/>
              <a:t>	○ Role Based Access Control (RBAC) </a:t>
            </a:r>
          </a:p>
          <a:p>
            <a:r>
              <a:rPr lang="en-US" sz="2000" dirty="0"/>
              <a:t>	○ Webhook</a:t>
            </a:r>
          </a:p>
        </p:txBody>
      </p:sp>
    </p:spTree>
    <p:extLst>
      <p:ext uri="{BB962C8B-B14F-4D97-AF65-F5344CB8AC3E}">
        <p14:creationId xmlns:p14="http://schemas.microsoft.com/office/powerpoint/2010/main" val="4066610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47530" y="687525"/>
            <a:ext cx="10496939" cy="1248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Autenticación y autorización de usuario en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44F380-A859-486C-9C46-997822D31F75}"/>
              </a:ext>
            </a:extLst>
          </p:cNvPr>
          <p:cNvSpPr txBox="1"/>
          <p:nvPr/>
        </p:nvSpPr>
        <p:spPr>
          <a:xfrm>
            <a:off x="590317" y="1783159"/>
            <a:ext cx="1143912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Operaciones en objetos Kubernetes
</a:t>
            </a:r>
          </a:p>
          <a:p>
            <a:r>
              <a:rPr lang="en-US" sz="2000" dirty="0"/>
              <a:t>● create </a:t>
            </a:r>
          </a:p>
          <a:p>
            <a:r>
              <a:rPr lang="en-US" sz="2000" dirty="0"/>
              <a:t>● get </a:t>
            </a:r>
          </a:p>
          <a:p>
            <a:r>
              <a:rPr lang="en-US" sz="2000" dirty="0"/>
              <a:t>● delete</a:t>
            </a:r>
          </a:p>
          <a:p>
            <a:r>
              <a:rPr lang="en-US" sz="2000" dirty="0"/>
              <a:t>● list </a:t>
            </a:r>
          </a:p>
          <a:p>
            <a:r>
              <a:rPr lang="en-US" sz="2000" dirty="0"/>
              <a:t>● update </a:t>
            </a:r>
          </a:p>
          <a:p>
            <a:r>
              <a:rPr lang="en-US" sz="2000" dirty="0"/>
              <a:t>● edit </a:t>
            </a:r>
          </a:p>
          <a:p>
            <a:r>
              <a:rPr lang="en-US" sz="2000" dirty="0"/>
              <a:t>● patch </a:t>
            </a:r>
          </a:p>
          <a:p>
            <a:r>
              <a:rPr lang="en-US" sz="2000" dirty="0"/>
              <a:t>● watch </a:t>
            </a:r>
          </a:p>
          <a:p>
            <a:r>
              <a:rPr lang="en-US" sz="2000" dirty="0"/>
              <a:t>● ….</a:t>
            </a:r>
          </a:p>
        </p:txBody>
      </p:sp>
    </p:spTree>
    <p:extLst>
      <p:ext uri="{BB962C8B-B14F-4D97-AF65-F5344CB8AC3E}">
        <p14:creationId xmlns:p14="http://schemas.microsoft.com/office/powerpoint/2010/main" val="1998730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47530" y="687525"/>
            <a:ext cx="10496939" cy="1248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Autenticación y autorización de usuario en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44F380-A859-486C-9C46-997822D31F75}"/>
              </a:ext>
            </a:extLst>
          </p:cNvPr>
          <p:cNvSpPr txBox="1"/>
          <p:nvPr/>
        </p:nvSpPr>
        <p:spPr>
          <a:xfrm>
            <a:off x="590317" y="1783159"/>
            <a:ext cx="114391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Role Based Access Control (RBAC) - Roles</a:t>
            </a:r>
          </a:p>
          <a:p>
            <a:endParaRPr lang="en-US" sz="2000" dirty="0"/>
          </a:p>
          <a:p>
            <a:r>
              <a:rPr lang="es-ES" sz="2000" dirty="0"/>
              <a:t>	"Aplica a un namespace determinado solamente."	"Aplicable Cluster Wide."
</a:t>
            </a:r>
            <a:r>
              <a:rPr lang="en-US" sz="2000" dirty="0"/>
              <a:t>
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8561B91-9C3E-4495-95AE-767F6C105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729" y="2921530"/>
            <a:ext cx="7561712" cy="362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76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47530" y="687525"/>
            <a:ext cx="10496939" cy="1248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Autenticación y autorización de usuario en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44F380-A859-486C-9C46-997822D31F75}"/>
              </a:ext>
            </a:extLst>
          </p:cNvPr>
          <p:cNvSpPr txBox="1"/>
          <p:nvPr/>
        </p:nvSpPr>
        <p:spPr>
          <a:xfrm>
            <a:off x="590317" y="1783159"/>
            <a:ext cx="11439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Kubernetes - APIs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6A8B76-30E5-4684-A656-4D4104092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30" y="2183269"/>
            <a:ext cx="10388718" cy="442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657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47530" y="687525"/>
            <a:ext cx="10496939" cy="1248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Autenticación y autorización de usuario en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44F380-A859-486C-9C46-997822D31F75}"/>
              </a:ext>
            </a:extLst>
          </p:cNvPr>
          <p:cNvSpPr txBox="1"/>
          <p:nvPr/>
        </p:nvSpPr>
        <p:spPr>
          <a:xfrm>
            <a:off x="590317" y="1783159"/>
            <a:ext cx="114391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Role Based Access Control (RBAC) - Role Bindings</a:t>
            </a:r>
          </a:p>
          <a:p>
            <a:endParaRPr lang="en-US" sz="2000" dirty="0"/>
          </a:p>
          <a:p>
            <a:r>
              <a:rPr lang="es-ES" sz="2000" dirty="0"/>
              <a:t>	"Aplica a un namespace determinado solamente."	"Aplicable Cluster Wide.”</a:t>
            </a:r>
            <a:endParaRPr lang="en-US" sz="20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403A752-3B20-42EB-8C41-015917611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344" y="2769552"/>
            <a:ext cx="8176896" cy="408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32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47530" y="687525"/>
            <a:ext cx="10496939" cy="1248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Autenticación y autorización de usuario en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44F380-A859-486C-9C46-997822D31F75}"/>
              </a:ext>
            </a:extLst>
          </p:cNvPr>
          <p:cNvSpPr txBox="1"/>
          <p:nvPr/>
        </p:nvSpPr>
        <p:spPr>
          <a:xfrm>
            <a:off x="590317" y="1783159"/>
            <a:ext cx="11439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Role Based Access Control (RBAC) - Role Bindings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4C56BE-7350-4D2B-AC9B-F4DDE033C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473" y="2402938"/>
            <a:ext cx="8970328" cy="445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042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47530" y="687525"/>
            <a:ext cx="10496939" cy="1251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Autenticación y autorización</a:t>
            </a:r>
          </a:p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039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445</Words>
  <Application>Microsoft Office PowerPoint</Application>
  <PresentationFormat>Panorámica</PresentationFormat>
  <Paragraphs>65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Helvetica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Josemanuel Fernandez (UST, ESP)</dc:creator>
  <cp:lastModifiedBy>Jose Manuel Fernandez Caballero(UST,ES)</cp:lastModifiedBy>
  <cp:revision>17</cp:revision>
  <dcterms:created xsi:type="dcterms:W3CDTF">2019-06-24T18:25:13Z</dcterms:created>
  <dcterms:modified xsi:type="dcterms:W3CDTF">2020-11-03T09:57:10Z</dcterms:modified>
</cp:coreProperties>
</file>
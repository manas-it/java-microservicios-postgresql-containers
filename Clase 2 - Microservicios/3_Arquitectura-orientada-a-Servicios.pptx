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44"/>
  </p:notesMasterIdLst>
  <p:sldIdLst>
    <p:sldId id="256" r:id="rId2"/>
    <p:sldId id="320" r:id="rId3"/>
    <p:sldId id="340" r:id="rId4"/>
    <p:sldId id="341" r:id="rId5"/>
    <p:sldId id="342" r:id="rId6"/>
    <p:sldId id="343" r:id="rId7"/>
    <p:sldId id="321" r:id="rId8"/>
    <p:sldId id="322" r:id="rId9"/>
    <p:sldId id="323" r:id="rId10"/>
    <p:sldId id="324" r:id="rId11"/>
    <p:sldId id="325" r:id="rId12"/>
    <p:sldId id="326" r:id="rId13"/>
    <p:sldId id="327" r:id="rId14"/>
    <p:sldId id="344" r:id="rId15"/>
    <p:sldId id="345" r:id="rId16"/>
    <p:sldId id="346" r:id="rId17"/>
    <p:sldId id="347" r:id="rId18"/>
    <p:sldId id="348" r:id="rId19"/>
    <p:sldId id="349" r:id="rId20"/>
    <p:sldId id="350" r:id="rId21"/>
    <p:sldId id="351" r:id="rId22"/>
    <p:sldId id="352" r:id="rId23"/>
    <p:sldId id="328" r:id="rId24"/>
    <p:sldId id="329" r:id="rId25"/>
    <p:sldId id="330" r:id="rId26"/>
    <p:sldId id="331" r:id="rId27"/>
    <p:sldId id="332" r:id="rId28"/>
    <p:sldId id="333" r:id="rId29"/>
    <p:sldId id="334" r:id="rId30"/>
    <p:sldId id="335" r:id="rId31"/>
    <p:sldId id="336" r:id="rId32"/>
    <p:sldId id="337" r:id="rId33"/>
    <p:sldId id="338" r:id="rId34"/>
    <p:sldId id="360" r:id="rId35"/>
    <p:sldId id="353" r:id="rId36"/>
    <p:sldId id="354" r:id="rId37"/>
    <p:sldId id="355" r:id="rId38"/>
    <p:sldId id="356" r:id="rId39"/>
    <p:sldId id="357" r:id="rId40"/>
    <p:sldId id="358" r:id="rId41"/>
    <p:sldId id="359" r:id="rId42"/>
    <p:sldId id="361" r:id="rId43"/>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0B25F994-6E5E-4EDD-87F4-301603DA4D75}">
          <p14:sldIdLst>
            <p14:sldId id="256"/>
            <p14:sldId id="320"/>
          </p14:sldIdLst>
        </p14:section>
        <p14:section name="CBSE" id="{62710F83-03DA-448A-A856-2E0FA64B3740}">
          <p14:sldIdLst>
            <p14:sldId id="340"/>
            <p14:sldId id="341"/>
            <p14:sldId id="342"/>
            <p14:sldId id="343"/>
          </p14:sldIdLst>
        </p14:section>
        <p14:section name="Servicios web" id="{1CE996B9-E354-44F7-8CEC-5CBF328F2D28}">
          <p14:sldIdLst>
            <p14:sldId id="321"/>
            <p14:sldId id="322"/>
            <p14:sldId id="323"/>
            <p14:sldId id="324"/>
          </p14:sldIdLst>
        </p14:section>
        <p14:section name="Microservicios" id="{76A8F33A-CCBF-477F-96F3-0F31857CD150}">
          <p14:sldIdLst>
            <p14:sldId id="325"/>
            <p14:sldId id="326"/>
            <p14:sldId id="327"/>
          </p14:sldIdLst>
        </p14:section>
        <p14:section name="Estilos de comunicación" id="{F58BF393-8CD7-4A54-BDA7-9727AD33E712}">
          <p14:sldIdLst>
            <p14:sldId id="344"/>
            <p14:sldId id="345"/>
            <p14:sldId id="346"/>
            <p14:sldId id="347"/>
            <p14:sldId id="348"/>
            <p14:sldId id="349"/>
            <p14:sldId id="350"/>
            <p14:sldId id="351"/>
            <p14:sldId id="352"/>
          </p14:sldIdLst>
        </p14:section>
        <p14:section name="Servicios REST" id="{1656B85E-F495-455A-A795-A7040798F947}">
          <p14:sldIdLst>
            <p14:sldId id="328"/>
            <p14:sldId id="329"/>
            <p14:sldId id="330"/>
            <p14:sldId id="331"/>
            <p14:sldId id="332"/>
            <p14:sldId id="333"/>
            <p14:sldId id="334"/>
            <p14:sldId id="335"/>
            <p14:sldId id="336"/>
            <p14:sldId id="337"/>
            <p14:sldId id="338"/>
          </p14:sldIdLst>
        </p14:section>
        <p14:section name="SOA" id="{8BC1D8C5-E3BC-4ACE-890F-A58B97A9B2EC}">
          <p14:sldIdLst>
            <p14:sldId id="360"/>
            <p14:sldId id="353"/>
            <p14:sldId id="354"/>
            <p14:sldId id="355"/>
            <p14:sldId id="356"/>
            <p14:sldId id="357"/>
            <p14:sldId id="358"/>
            <p14:sldId id="359"/>
            <p14:sldId id="36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93" autoAdjust="0"/>
    <p:restoredTop sz="94660"/>
  </p:normalViewPr>
  <p:slideViewPr>
    <p:cSldViewPr>
      <p:cViewPr varScale="1">
        <p:scale>
          <a:sx n="65" d="100"/>
          <a:sy n="65" d="100"/>
        </p:scale>
        <p:origin x="1410"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14F6A4-2D12-41ED-825D-9D9FE9C4CE13}" type="datetimeFigureOut">
              <a:rPr lang="es-AR" smtClean="0"/>
              <a:t>28/4/2022</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7E478F-5D19-4F2C-8FE4-C1331CA96872}" type="slidenum">
              <a:rPr lang="es-AR" smtClean="0"/>
              <a:t>‹Nº›</a:t>
            </a:fld>
            <a:endParaRPr lang="es-AR"/>
          </a:p>
        </p:txBody>
      </p:sp>
    </p:spTree>
    <p:extLst>
      <p:ext uri="{BB962C8B-B14F-4D97-AF65-F5344CB8AC3E}">
        <p14:creationId xmlns:p14="http://schemas.microsoft.com/office/powerpoint/2010/main" val="2510780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a:p>
        </p:txBody>
      </p:sp>
      <p:sp>
        <p:nvSpPr>
          <p:cNvPr id="4" name="3 Marcador de número de diapositiva"/>
          <p:cNvSpPr>
            <a:spLocks noGrp="1"/>
          </p:cNvSpPr>
          <p:nvPr>
            <p:ph type="sldNum" sz="quarter" idx="10"/>
          </p:nvPr>
        </p:nvSpPr>
        <p:spPr/>
        <p:txBody>
          <a:bodyPr/>
          <a:lstStyle/>
          <a:p>
            <a:fld id="{547E478F-5D19-4F2C-8FE4-C1331CA96872}" type="slidenum">
              <a:rPr lang="es-AR" smtClean="0"/>
              <a:t>1</a:t>
            </a:fld>
            <a:endParaRPr lang="es-AR"/>
          </a:p>
        </p:txBody>
      </p:sp>
    </p:spTree>
    <p:extLst>
      <p:ext uri="{BB962C8B-B14F-4D97-AF65-F5344CB8AC3E}">
        <p14:creationId xmlns:p14="http://schemas.microsoft.com/office/powerpoint/2010/main" val="2161430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a:p>
        </p:txBody>
      </p:sp>
      <p:sp>
        <p:nvSpPr>
          <p:cNvPr id="4" name="3 Marcador de número de diapositiva"/>
          <p:cNvSpPr>
            <a:spLocks noGrp="1"/>
          </p:cNvSpPr>
          <p:nvPr>
            <p:ph type="sldNum" sz="quarter" idx="10"/>
          </p:nvPr>
        </p:nvSpPr>
        <p:spPr/>
        <p:txBody>
          <a:bodyPr/>
          <a:lstStyle/>
          <a:p>
            <a:pPr>
              <a:defRPr/>
            </a:pPr>
            <a:fld id="{3C3EB723-8A46-40F3-9257-F56DD5D8A27E}" type="slidenum">
              <a:rPr lang="es-AR" smtClean="0"/>
              <a:pPr>
                <a:defRPr/>
              </a:pPr>
              <a:t>2</a:t>
            </a:fld>
            <a:endParaRPr lang="es-AR"/>
          </a:p>
        </p:txBody>
      </p:sp>
    </p:spTree>
    <p:extLst>
      <p:ext uri="{BB962C8B-B14F-4D97-AF65-F5344CB8AC3E}">
        <p14:creationId xmlns:p14="http://schemas.microsoft.com/office/powerpoint/2010/main" val="2730660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8</a:t>
            </a:fld>
            <a:endParaRPr lang="en-US" dirty="0"/>
          </a:p>
        </p:txBody>
      </p:sp>
    </p:spTree>
    <p:extLst>
      <p:ext uri="{BB962C8B-B14F-4D97-AF65-F5344CB8AC3E}">
        <p14:creationId xmlns:p14="http://schemas.microsoft.com/office/powerpoint/2010/main" val="105342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9</a:t>
            </a:fld>
            <a:endParaRPr lang="en-US" dirty="0"/>
          </a:p>
        </p:txBody>
      </p:sp>
    </p:spTree>
    <p:extLst>
      <p:ext uri="{BB962C8B-B14F-4D97-AF65-F5344CB8AC3E}">
        <p14:creationId xmlns:p14="http://schemas.microsoft.com/office/powerpoint/2010/main" val="1732493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FC2C3C-FDA5-4063-BDD5-C014CB5EB1ED}" type="slidenum">
              <a:rPr lang="es-ES_tradnl"/>
              <a:pPr/>
              <a:t>15</a:t>
            </a:fld>
            <a:endParaRPr lang="es-ES_tradnl"/>
          </a:p>
        </p:txBody>
      </p:sp>
      <p:sp>
        <p:nvSpPr>
          <p:cNvPr id="29698" name="Rectangle 2"/>
          <p:cNvSpPr>
            <a:spLocks noGrp="1" noRot="1" noChangeAspect="1" noChangeArrowheads="1" noTextEdit="1"/>
          </p:cNvSpPr>
          <p:nvPr>
            <p:ph type="sldImg"/>
          </p:nvPr>
        </p:nvSpPr>
        <p:spPr>
          <a:xfrm>
            <a:off x="247650" y="357188"/>
            <a:ext cx="6397625" cy="4797425"/>
          </a:xfrm>
          <a:ln/>
        </p:spPr>
      </p:sp>
      <p:sp>
        <p:nvSpPr>
          <p:cNvPr id="29699" name="Rectangle 3"/>
          <p:cNvSpPr>
            <a:spLocks noGrp="1" noChangeArrowheads="1"/>
          </p:cNvSpPr>
          <p:nvPr>
            <p:ph type="body" idx="1"/>
          </p:nvPr>
        </p:nvSpPr>
        <p:spPr>
          <a:xfrm>
            <a:off x="228600" y="5154613"/>
            <a:ext cx="6405563" cy="3473450"/>
          </a:xfrm>
        </p:spPr>
        <p:txBody>
          <a:bodyPr lIns="91175" tIns="45587" rIns="91175" bIns="45587"/>
          <a:lstStyle/>
          <a:p>
            <a:r>
              <a:rPr lang="es-ES_tradnl" sz="1800" b="1" u="sng"/>
              <a:t>NOTAS</a:t>
            </a:r>
          </a:p>
        </p:txBody>
      </p:sp>
    </p:spTree>
    <p:extLst>
      <p:ext uri="{BB962C8B-B14F-4D97-AF65-F5344CB8AC3E}">
        <p14:creationId xmlns:p14="http://schemas.microsoft.com/office/powerpoint/2010/main" val="2535307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AF3CA2-A1A7-43B5-B128-6DC6D8652992}" type="slidenum">
              <a:rPr lang="es-ES_tradnl"/>
              <a:pPr/>
              <a:t>19</a:t>
            </a:fld>
            <a:endParaRPr lang="es-ES_tradnl"/>
          </a:p>
        </p:txBody>
      </p:sp>
      <p:sp>
        <p:nvSpPr>
          <p:cNvPr id="32770" name="Rectangle 2"/>
          <p:cNvSpPr>
            <a:spLocks noGrp="1" noRot="1" noChangeAspect="1" noChangeArrowheads="1" noTextEdit="1"/>
          </p:cNvSpPr>
          <p:nvPr>
            <p:ph type="sldImg"/>
          </p:nvPr>
        </p:nvSpPr>
        <p:spPr>
          <a:xfrm>
            <a:off x="247650" y="357188"/>
            <a:ext cx="6397625" cy="4797425"/>
          </a:xfrm>
          <a:ln/>
        </p:spPr>
      </p:sp>
      <p:sp>
        <p:nvSpPr>
          <p:cNvPr id="32771" name="Rectangle 3"/>
          <p:cNvSpPr>
            <a:spLocks noGrp="1" noChangeArrowheads="1"/>
          </p:cNvSpPr>
          <p:nvPr>
            <p:ph type="body" idx="1"/>
          </p:nvPr>
        </p:nvSpPr>
        <p:spPr>
          <a:xfrm>
            <a:off x="228600" y="5154613"/>
            <a:ext cx="6405563" cy="3473450"/>
          </a:xfrm>
        </p:spPr>
        <p:txBody>
          <a:bodyPr lIns="91175" tIns="45587" rIns="91175" bIns="45587"/>
          <a:lstStyle/>
          <a:p>
            <a:r>
              <a:rPr lang="es-ES_tradnl" sz="1800" b="1" u="sng"/>
              <a:t>NOTAS</a:t>
            </a:r>
          </a:p>
        </p:txBody>
      </p:sp>
    </p:spTree>
    <p:extLst>
      <p:ext uri="{BB962C8B-B14F-4D97-AF65-F5344CB8AC3E}">
        <p14:creationId xmlns:p14="http://schemas.microsoft.com/office/powerpoint/2010/main" val="1333803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24</a:t>
            </a:fld>
            <a:endParaRPr lang="en-US" dirty="0"/>
          </a:p>
        </p:txBody>
      </p:sp>
    </p:spTree>
    <p:extLst>
      <p:ext uri="{BB962C8B-B14F-4D97-AF65-F5344CB8AC3E}">
        <p14:creationId xmlns:p14="http://schemas.microsoft.com/office/powerpoint/2010/main" val="679506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25</a:t>
            </a:fld>
            <a:endParaRPr lang="en-US" dirty="0"/>
          </a:p>
        </p:txBody>
      </p:sp>
    </p:spTree>
    <p:extLst>
      <p:ext uri="{BB962C8B-B14F-4D97-AF65-F5344CB8AC3E}">
        <p14:creationId xmlns:p14="http://schemas.microsoft.com/office/powerpoint/2010/main" val="1478042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26</a:t>
            </a:fld>
            <a:endParaRPr lang="en-US" dirty="0"/>
          </a:p>
        </p:txBody>
      </p:sp>
    </p:spTree>
    <p:extLst>
      <p:ext uri="{BB962C8B-B14F-4D97-AF65-F5344CB8AC3E}">
        <p14:creationId xmlns:p14="http://schemas.microsoft.com/office/powerpoint/2010/main" val="4665020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27</a:t>
            </a:fld>
            <a:endParaRPr lang="en-US" dirty="0"/>
          </a:p>
        </p:txBody>
      </p:sp>
    </p:spTree>
    <p:extLst>
      <p:ext uri="{BB962C8B-B14F-4D97-AF65-F5344CB8AC3E}">
        <p14:creationId xmlns:p14="http://schemas.microsoft.com/office/powerpoint/2010/main" val="1295350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28</a:t>
            </a:fld>
            <a:endParaRPr lang="en-US" dirty="0"/>
          </a:p>
        </p:txBody>
      </p:sp>
    </p:spTree>
    <p:extLst>
      <p:ext uri="{BB962C8B-B14F-4D97-AF65-F5344CB8AC3E}">
        <p14:creationId xmlns:p14="http://schemas.microsoft.com/office/powerpoint/2010/main" val="3255981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29</a:t>
            </a:fld>
            <a:endParaRPr lang="en-US" dirty="0"/>
          </a:p>
        </p:txBody>
      </p:sp>
    </p:spTree>
    <p:extLst>
      <p:ext uri="{BB962C8B-B14F-4D97-AF65-F5344CB8AC3E}">
        <p14:creationId xmlns:p14="http://schemas.microsoft.com/office/powerpoint/2010/main" val="974980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30</a:t>
            </a:fld>
            <a:endParaRPr lang="en-US" dirty="0"/>
          </a:p>
        </p:txBody>
      </p:sp>
    </p:spTree>
    <p:extLst>
      <p:ext uri="{BB962C8B-B14F-4D97-AF65-F5344CB8AC3E}">
        <p14:creationId xmlns:p14="http://schemas.microsoft.com/office/powerpoint/2010/main" val="588020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35</a:t>
            </a:fld>
            <a:endParaRPr lang="en-US" dirty="0"/>
          </a:p>
        </p:txBody>
      </p:sp>
    </p:spTree>
    <p:extLst>
      <p:ext uri="{BB962C8B-B14F-4D97-AF65-F5344CB8AC3E}">
        <p14:creationId xmlns:p14="http://schemas.microsoft.com/office/powerpoint/2010/main" val="9503841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36</a:t>
            </a:fld>
            <a:endParaRPr lang="en-US" dirty="0"/>
          </a:p>
        </p:txBody>
      </p:sp>
    </p:spTree>
    <p:extLst>
      <p:ext uri="{BB962C8B-B14F-4D97-AF65-F5344CB8AC3E}">
        <p14:creationId xmlns:p14="http://schemas.microsoft.com/office/powerpoint/2010/main" val="8261167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37</a:t>
            </a:fld>
            <a:endParaRPr lang="en-US" dirty="0"/>
          </a:p>
        </p:txBody>
      </p:sp>
    </p:spTree>
    <p:extLst>
      <p:ext uri="{BB962C8B-B14F-4D97-AF65-F5344CB8AC3E}">
        <p14:creationId xmlns:p14="http://schemas.microsoft.com/office/powerpoint/2010/main" val="1158456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38</a:t>
            </a:fld>
            <a:endParaRPr lang="en-US" dirty="0"/>
          </a:p>
        </p:txBody>
      </p:sp>
    </p:spTree>
    <p:extLst>
      <p:ext uri="{BB962C8B-B14F-4D97-AF65-F5344CB8AC3E}">
        <p14:creationId xmlns:p14="http://schemas.microsoft.com/office/powerpoint/2010/main" val="181428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39</a:t>
            </a:fld>
            <a:endParaRPr lang="en-US" dirty="0"/>
          </a:p>
        </p:txBody>
      </p:sp>
    </p:spTree>
    <p:extLst>
      <p:ext uri="{BB962C8B-B14F-4D97-AF65-F5344CB8AC3E}">
        <p14:creationId xmlns:p14="http://schemas.microsoft.com/office/powerpoint/2010/main" val="23189557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sz="2200" dirty="0"/>
          </a:p>
        </p:txBody>
      </p:sp>
      <p:sp>
        <p:nvSpPr>
          <p:cNvPr id="4" name="3 Marcador de número de diapositiva"/>
          <p:cNvSpPr>
            <a:spLocks noGrp="1"/>
          </p:cNvSpPr>
          <p:nvPr>
            <p:ph type="sldNum" sz="quarter" idx="10"/>
          </p:nvPr>
        </p:nvSpPr>
        <p:spPr/>
        <p:txBody>
          <a:bodyPr/>
          <a:lstStyle/>
          <a:p>
            <a:pPr>
              <a:defRPr/>
            </a:pPr>
            <a:fld id="{4E2D05C2-130E-4E2C-8EA1-429380DF2606}" type="slidenum">
              <a:rPr lang="en-US" smtClean="0"/>
              <a:pPr>
                <a:defRPr/>
              </a:pPr>
              <a:t>41</a:t>
            </a:fld>
            <a:endParaRPr lang="en-US" dirty="0"/>
          </a:p>
        </p:txBody>
      </p:sp>
    </p:spTree>
    <p:extLst>
      <p:ext uri="{BB962C8B-B14F-4D97-AF65-F5344CB8AC3E}">
        <p14:creationId xmlns:p14="http://schemas.microsoft.com/office/powerpoint/2010/main" val="4247077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EBDA4859-C31C-4751-B42B-69AE04B19D25}" type="datetimeFigureOut">
              <a:rPr lang="es-AR" smtClean="0"/>
              <a:t>28/4/2022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EFB8B2AB-354F-45F1-BE53-BE9B63207C08}" type="slidenum">
              <a:rPr lang="es-AR" smtClean="0"/>
              <a:t>‹Nº›</a:t>
            </a:fld>
            <a:endParaRPr lang="es-AR"/>
          </a:p>
        </p:txBody>
      </p:sp>
    </p:spTree>
    <p:extLst>
      <p:ext uri="{BB962C8B-B14F-4D97-AF65-F5344CB8AC3E}">
        <p14:creationId xmlns:p14="http://schemas.microsoft.com/office/powerpoint/2010/main" val="1549282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BDA4859-C31C-4751-B42B-69AE04B19D25}" type="datetimeFigureOut">
              <a:rPr lang="es-AR" smtClean="0"/>
              <a:t>28/4/2022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EFB8B2AB-354F-45F1-BE53-BE9B63207C08}" type="slidenum">
              <a:rPr lang="es-AR" smtClean="0"/>
              <a:t>‹Nº›</a:t>
            </a:fld>
            <a:endParaRPr lang="es-AR"/>
          </a:p>
        </p:txBody>
      </p:sp>
    </p:spTree>
    <p:extLst>
      <p:ext uri="{BB962C8B-B14F-4D97-AF65-F5344CB8AC3E}">
        <p14:creationId xmlns:p14="http://schemas.microsoft.com/office/powerpoint/2010/main" val="385450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BDA4859-C31C-4751-B42B-69AE04B19D25}" type="datetimeFigureOut">
              <a:rPr lang="es-AR" smtClean="0"/>
              <a:t>28/4/2022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EFB8B2AB-354F-45F1-BE53-BE9B63207C08}" type="slidenum">
              <a:rPr lang="es-AR" smtClean="0"/>
              <a:t>‹Nº›</a:t>
            </a:fld>
            <a:endParaRPr lang="es-AR"/>
          </a:p>
        </p:txBody>
      </p:sp>
    </p:spTree>
    <p:extLst>
      <p:ext uri="{BB962C8B-B14F-4D97-AF65-F5344CB8AC3E}">
        <p14:creationId xmlns:p14="http://schemas.microsoft.com/office/powerpoint/2010/main" val="1412300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BDA4859-C31C-4751-B42B-69AE04B19D25}" type="datetimeFigureOut">
              <a:rPr lang="es-AR" smtClean="0"/>
              <a:t>28/4/2022</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EFB8B2AB-354F-45F1-BE53-BE9B63207C08}" type="slidenum">
              <a:rPr lang="es-AR" smtClean="0"/>
              <a:t>‹Nº›</a:t>
            </a:fld>
            <a:endParaRPr lang="es-AR"/>
          </a:p>
        </p:txBody>
      </p:sp>
    </p:spTree>
    <p:extLst>
      <p:ext uri="{BB962C8B-B14F-4D97-AF65-F5344CB8AC3E}">
        <p14:creationId xmlns:p14="http://schemas.microsoft.com/office/powerpoint/2010/main" val="4055165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EBDA4859-C31C-4751-B42B-69AE04B19D25}" type="datetimeFigureOut">
              <a:rPr lang="es-AR" smtClean="0"/>
              <a:t>28/4/2022</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EFB8B2AB-354F-45F1-BE53-BE9B63207C08}" type="slidenum">
              <a:rPr lang="es-AR" smtClean="0"/>
              <a:t>‹Nº›</a:t>
            </a:fld>
            <a:endParaRPr lang="es-AR"/>
          </a:p>
        </p:txBody>
      </p:sp>
    </p:spTree>
    <p:extLst>
      <p:ext uri="{BB962C8B-B14F-4D97-AF65-F5344CB8AC3E}">
        <p14:creationId xmlns:p14="http://schemas.microsoft.com/office/powerpoint/2010/main" val="187841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EBDA4859-C31C-4751-B42B-69AE04B19D25}" type="datetimeFigureOut">
              <a:rPr lang="es-AR" smtClean="0"/>
              <a:t>28/4/2022</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EFB8B2AB-354F-45F1-BE53-BE9B63207C08}" type="slidenum">
              <a:rPr lang="es-AR" smtClean="0"/>
              <a:t>‹Nº›</a:t>
            </a:fld>
            <a:endParaRPr lang="es-AR"/>
          </a:p>
        </p:txBody>
      </p:sp>
    </p:spTree>
    <p:extLst>
      <p:ext uri="{BB962C8B-B14F-4D97-AF65-F5344CB8AC3E}">
        <p14:creationId xmlns:p14="http://schemas.microsoft.com/office/powerpoint/2010/main" val="1253578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DA4859-C31C-4751-B42B-69AE04B19D25}" type="datetimeFigureOut">
              <a:rPr lang="es-AR" smtClean="0"/>
              <a:t>28/4/2022</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EFB8B2AB-354F-45F1-BE53-BE9B63207C08}" type="slidenum">
              <a:rPr lang="es-AR" smtClean="0"/>
              <a:t>‹Nº›</a:t>
            </a:fld>
            <a:endParaRPr lang="es-AR"/>
          </a:p>
        </p:txBody>
      </p:sp>
    </p:spTree>
    <p:extLst>
      <p:ext uri="{BB962C8B-B14F-4D97-AF65-F5344CB8AC3E}">
        <p14:creationId xmlns:p14="http://schemas.microsoft.com/office/powerpoint/2010/main" val="35417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EBDA4859-C31C-4751-B42B-69AE04B19D25}" type="datetimeFigureOut">
              <a:rPr lang="es-AR" smtClean="0"/>
              <a:t>28/4/2022</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EFB8B2AB-354F-45F1-BE53-BE9B63207C08}" type="slidenum">
              <a:rPr lang="es-AR" smtClean="0"/>
              <a:t>‹Nº›</a:t>
            </a:fld>
            <a:endParaRPr lang="es-AR"/>
          </a:p>
        </p:txBody>
      </p:sp>
    </p:spTree>
    <p:extLst>
      <p:ext uri="{BB962C8B-B14F-4D97-AF65-F5344CB8AC3E}">
        <p14:creationId xmlns:p14="http://schemas.microsoft.com/office/powerpoint/2010/main" val="2780336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EBDA4859-C31C-4751-B42B-69AE04B19D25}" type="datetimeFigureOut">
              <a:rPr lang="es-AR" smtClean="0"/>
              <a:t>28/4/2022</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EFB8B2AB-354F-45F1-BE53-BE9B63207C08}" type="slidenum">
              <a:rPr lang="es-AR" smtClean="0"/>
              <a:t>‹Nº›</a:t>
            </a:fld>
            <a:endParaRPr lang="es-AR"/>
          </a:p>
        </p:txBody>
      </p:sp>
    </p:spTree>
    <p:extLst>
      <p:ext uri="{BB962C8B-B14F-4D97-AF65-F5344CB8AC3E}">
        <p14:creationId xmlns:p14="http://schemas.microsoft.com/office/powerpoint/2010/main" val="917115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BDA4859-C31C-4751-B42B-69AE04B19D25}" type="datetimeFigureOut">
              <a:rPr lang="es-AR" smtClean="0"/>
              <a:t>28/4/2022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EFB8B2AB-354F-45F1-BE53-BE9B63207C08}" type="slidenum">
              <a:rPr lang="es-AR" smtClean="0"/>
              <a:t>‹Nº›</a:t>
            </a:fld>
            <a:endParaRPr lang="es-AR"/>
          </a:p>
        </p:txBody>
      </p:sp>
    </p:spTree>
    <p:extLst>
      <p:ext uri="{BB962C8B-B14F-4D97-AF65-F5344CB8AC3E}">
        <p14:creationId xmlns:p14="http://schemas.microsoft.com/office/powerpoint/2010/main" val="967504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BDA4859-C31C-4751-B42B-69AE04B19D25}" type="datetimeFigureOut">
              <a:rPr lang="es-AR" smtClean="0"/>
              <a:t>28/4/2022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EFB8B2AB-354F-45F1-BE53-BE9B63207C08}" type="slidenum">
              <a:rPr lang="es-AR" smtClean="0"/>
              <a:t>‹Nº›</a:t>
            </a:fld>
            <a:endParaRPr lang="es-AR"/>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03559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BDA4859-C31C-4751-B42B-69AE04B19D25}" type="datetimeFigureOut">
              <a:rPr lang="es-AR" smtClean="0"/>
              <a:t>28/4/2022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EFB8B2AB-354F-45F1-BE53-BE9B63207C08}" type="slidenum">
              <a:rPr lang="es-AR" smtClean="0"/>
              <a:t>‹Nº›</a:t>
            </a:fld>
            <a:endParaRPr lang="es-AR"/>
          </a:p>
        </p:txBody>
      </p:sp>
    </p:spTree>
    <p:extLst>
      <p:ext uri="{BB962C8B-B14F-4D97-AF65-F5344CB8AC3E}">
        <p14:creationId xmlns:p14="http://schemas.microsoft.com/office/powerpoint/2010/main" val="13600427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BDA4859-C31C-4751-B42B-69AE04B19D25}" type="datetimeFigureOut">
              <a:rPr lang="es-AR" smtClean="0"/>
              <a:t>28/4/2022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EFB8B2AB-354F-45F1-BE53-BE9B63207C08}" type="slidenum">
              <a:rPr lang="es-AR" smtClean="0"/>
              <a:t>‹Nº›</a:t>
            </a:fld>
            <a:endParaRPr lang="es-AR"/>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873176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EBDA4859-C31C-4751-B42B-69AE04B19D25}" type="datetimeFigureOut">
              <a:rPr lang="es-AR" smtClean="0"/>
              <a:t>28/4/2022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EFB8B2AB-354F-45F1-BE53-BE9B63207C08}" type="slidenum">
              <a:rPr lang="es-AR" smtClean="0"/>
              <a:t>‹Nº›</a:t>
            </a:fld>
            <a:endParaRPr lang="es-AR"/>
          </a:p>
        </p:txBody>
      </p:sp>
    </p:spTree>
    <p:extLst>
      <p:ext uri="{BB962C8B-B14F-4D97-AF65-F5344CB8AC3E}">
        <p14:creationId xmlns:p14="http://schemas.microsoft.com/office/powerpoint/2010/main" val="17743945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BDA4859-C31C-4751-B42B-69AE04B19D25}" type="datetimeFigureOut">
              <a:rPr lang="es-AR" smtClean="0"/>
              <a:t>28/4/2022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EFB8B2AB-354F-45F1-BE53-BE9B63207C08}" type="slidenum">
              <a:rPr lang="es-AR" smtClean="0"/>
              <a:t>‹Nº›</a:t>
            </a:fld>
            <a:endParaRPr lang="es-AR"/>
          </a:p>
        </p:txBody>
      </p:sp>
    </p:spTree>
    <p:extLst>
      <p:ext uri="{BB962C8B-B14F-4D97-AF65-F5344CB8AC3E}">
        <p14:creationId xmlns:p14="http://schemas.microsoft.com/office/powerpoint/2010/main" val="10165441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EBDA4859-C31C-4751-B42B-69AE04B19D25}" type="datetimeFigureOut">
              <a:rPr lang="es-AR" smtClean="0"/>
              <a:t>28/4/2022</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EFB8B2AB-354F-45F1-BE53-BE9B63207C08}" type="slidenum">
              <a:rPr lang="es-AR" smtClean="0"/>
              <a:t>‹Nº›</a:t>
            </a:fld>
            <a:endParaRPr lang="es-AR"/>
          </a:p>
        </p:txBody>
      </p:sp>
    </p:spTree>
    <p:extLst>
      <p:ext uri="{BB962C8B-B14F-4D97-AF65-F5344CB8AC3E}">
        <p14:creationId xmlns:p14="http://schemas.microsoft.com/office/powerpoint/2010/main" val="2961122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BDA4859-C31C-4751-B42B-69AE04B19D25}" type="datetimeFigureOut">
              <a:rPr lang="es-AR" smtClean="0"/>
              <a:t>28/4/2022</a:t>
            </a:fld>
            <a:endParaRPr lang="es-AR"/>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EFB8B2AB-354F-45F1-BE53-BE9B63207C08}" type="slidenum">
              <a:rPr lang="es-AR" smtClean="0"/>
              <a:t>‹Nº›</a:t>
            </a:fld>
            <a:endParaRPr lang="es-AR"/>
          </a:p>
        </p:txBody>
      </p:sp>
    </p:spTree>
    <p:extLst>
      <p:ext uri="{BB962C8B-B14F-4D97-AF65-F5344CB8AC3E}">
        <p14:creationId xmlns:p14="http://schemas.microsoft.com/office/powerpoint/2010/main" val="559707461"/>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www.afip.gob.ar/w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developers.mercadolibre.com/order-management/"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elblogdepicodev.blogspot.com.ar/2013/02/devolver-xml-json-o-html-con-resteasy.html" TargetMode="External"/><Relationship Id="rId2" Type="http://schemas.openxmlformats.org/officeDocument/2006/relationships/hyperlink" Target="http://elblogdepicodev.blogspot.com.ar/2013/02/cliente-javascript-y-java-de-servicio-web-resteasy.html"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AR" dirty="0" smtClean="0"/>
              <a:t>Arquitectura orientada a servicios (SOA)</a:t>
            </a:r>
            <a:endParaRPr lang="es-AR" dirty="0"/>
          </a:p>
        </p:txBody>
      </p:sp>
      <p:sp>
        <p:nvSpPr>
          <p:cNvPr id="4" name="Subtítulo 3"/>
          <p:cNvSpPr>
            <a:spLocks noGrp="1"/>
          </p:cNvSpPr>
          <p:nvPr>
            <p:ph type="subTitle" idx="1"/>
          </p:nvPr>
        </p:nvSpPr>
        <p:spPr/>
        <p:txBody>
          <a:bodyPr/>
          <a:lstStyle/>
          <a:p>
            <a:endParaRPr lang="es-ES"/>
          </a:p>
        </p:txBody>
      </p:sp>
    </p:spTree>
    <p:extLst>
      <p:ext uri="{BB962C8B-B14F-4D97-AF65-F5344CB8AC3E}">
        <p14:creationId xmlns:p14="http://schemas.microsoft.com/office/powerpoint/2010/main" val="8832783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vert="horz" lIns="91440" tIns="45720" rIns="91440" bIns="45720" rtlCol="0" anchor="ctr">
            <a:noAutofit/>
          </a:bodyPr>
          <a:lstStyle/>
          <a:p>
            <a:r>
              <a:rPr lang="es-ES_tradnl" altLang="es-AR" dirty="0"/>
              <a:t>TEMARIO</a:t>
            </a:r>
            <a:endParaRPr lang="es-ES" altLang="es-AR" dirty="0"/>
          </a:p>
        </p:txBody>
      </p:sp>
      <p:sp>
        <p:nvSpPr>
          <p:cNvPr id="8195" name="Rectangle 3"/>
          <p:cNvSpPr>
            <a:spLocks noGrp="1" noChangeArrowheads="1"/>
          </p:cNvSpPr>
          <p:nvPr>
            <p:ph idx="1"/>
          </p:nvPr>
        </p:nvSpPr>
        <p:spPr>
          <a:xfrm>
            <a:off x="514351" y="2063396"/>
            <a:ext cx="7796030" cy="3311189"/>
          </a:xfrm>
          <a:prstGeom prst="rect">
            <a:avLst/>
          </a:prstGeom>
        </p:spPr>
        <p:txBody>
          <a:bodyPr/>
          <a:lstStyle/>
          <a:p>
            <a:pPr eaLnBrk="1" hangingPunct="1"/>
            <a:endParaRPr lang="es-ES_tradnl" altLang="es-AR" sz="2800" dirty="0" smtClean="0"/>
          </a:p>
          <a:p>
            <a:pPr eaLnBrk="1" hangingPunct="1"/>
            <a:r>
              <a:rPr lang="es-ES_tradnl" altLang="es-AR" sz="2800" dirty="0" smtClean="0"/>
              <a:t>Desarrollo basado en componentes</a:t>
            </a:r>
          </a:p>
          <a:p>
            <a:pPr eaLnBrk="1" hangingPunct="1"/>
            <a:r>
              <a:rPr lang="es-ES_tradnl" altLang="es-AR" sz="2800" dirty="0" smtClean="0"/>
              <a:t>Servicios Web</a:t>
            </a:r>
          </a:p>
          <a:p>
            <a:pPr eaLnBrk="1" hangingPunct="1"/>
            <a:r>
              <a:rPr lang="es-ES_tradnl" altLang="es-AR" sz="2800" dirty="0" err="1" smtClean="0"/>
              <a:t>Microservicios</a:t>
            </a:r>
            <a:endParaRPr lang="es-ES_tradnl" altLang="es-AR" sz="2800" dirty="0" smtClean="0"/>
          </a:p>
          <a:p>
            <a:pPr eaLnBrk="1" hangingPunct="1"/>
            <a:r>
              <a:rPr lang="es-ES_tradnl" altLang="es-AR" sz="2800" dirty="0" smtClean="0"/>
              <a:t>Servicios REST</a:t>
            </a:r>
          </a:p>
          <a:p>
            <a:pPr eaLnBrk="1" hangingPunct="1"/>
            <a:r>
              <a:rPr lang="es-ES_tradnl" altLang="es-AR" sz="2800" dirty="0" smtClean="0"/>
              <a:t>SOA</a:t>
            </a:r>
          </a:p>
          <a:p>
            <a:pPr eaLnBrk="1" hangingPunct="1"/>
            <a:endParaRPr lang="es-ES_tradnl" altLang="es-AR" sz="2800" dirty="0" smtClean="0"/>
          </a:p>
          <a:p>
            <a:pPr marL="0" indent="0" eaLnBrk="1" hangingPunct="1">
              <a:buFont typeface="Wingdings" pitchFamily="2" charset="2"/>
              <a:buNone/>
            </a:pPr>
            <a:endParaRPr lang="es-ES_tradnl" altLang="es-AR" sz="2800" dirty="0" smtClean="0"/>
          </a:p>
        </p:txBody>
      </p:sp>
      <p:sp>
        <p:nvSpPr>
          <p:cNvPr id="2" name="1 Marcador de número de diapositiva"/>
          <p:cNvSpPr>
            <a:spLocks noGrp="1"/>
          </p:cNvSpPr>
          <p:nvPr>
            <p:ph type="sldNum" sz="quarter" idx="12"/>
          </p:nvPr>
        </p:nvSpPr>
        <p:spPr/>
        <p:txBody>
          <a:bodyPr/>
          <a:lstStyle/>
          <a:p>
            <a:pPr>
              <a:defRPr/>
            </a:pPr>
            <a:fld id="{0BC77640-C8A3-4987-B4D8-0AE8AEED414C}" type="slidenum">
              <a:rPr lang="es-ES" altLang="es-AR" smtClean="0"/>
              <a:pPr>
                <a:defRPr/>
              </a:pPr>
              <a:t>2</a:t>
            </a:fld>
            <a:endParaRPr lang="es-ES" altLang="es-A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4128" y="980728"/>
            <a:ext cx="1524000" cy="1504950"/>
          </a:xfrm>
          <a:prstGeom prst="rect">
            <a:avLst/>
          </a:prstGeom>
        </p:spPr>
      </p:pic>
    </p:spTree>
    <p:extLst>
      <p:ext uri="{BB962C8B-B14F-4D97-AF65-F5344CB8AC3E}">
        <p14:creationId xmlns:p14="http://schemas.microsoft.com/office/powerpoint/2010/main" val="6063181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AutoShape 2"/>
          <p:cNvSpPr>
            <a:spLocks noGrp="1" noChangeArrowheads="1"/>
          </p:cNvSpPr>
          <p:nvPr>
            <p:ph type="ctrTitle"/>
          </p:nvPr>
        </p:nvSpPr>
        <p:spPr/>
        <p:txBody>
          <a:bodyPr>
            <a:normAutofit fontScale="90000"/>
          </a:bodyPr>
          <a:lstStyle/>
          <a:p>
            <a:r>
              <a:rPr lang="es-AR" sz="4500" dirty="0" smtClean="0"/>
              <a:t>Desarrollo de software basado en componentes (CBSE)</a:t>
            </a:r>
            <a:endParaRPr lang="es-ES" sz="4500" dirty="0"/>
          </a:p>
        </p:txBody>
      </p:sp>
      <p:sp>
        <p:nvSpPr>
          <p:cNvPr id="3" name="Subtítulo 2"/>
          <p:cNvSpPr>
            <a:spLocks noGrp="1"/>
          </p:cNvSpPr>
          <p:nvPr>
            <p:ph type="subTitle" idx="1"/>
          </p:nvPr>
        </p:nvSpPr>
        <p:spPr/>
        <p:txBody>
          <a:bodyPr/>
          <a:lstStyle/>
          <a:p>
            <a:endParaRPr lang="es-AR"/>
          </a:p>
        </p:txBody>
      </p:sp>
    </p:spTree>
    <p:extLst>
      <p:ext uri="{BB962C8B-B14F-4D97-AF65-F5344CB8AC3E}">
        <p14:creationId xmlns:p14="http://schemas.microsoft.com/office/powerpoint/2010/main" val="30362662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smtClean="0"/>
              <a:t>Desarrollo de software basado en componentes</a:t>
            </a:r>
            <a:endParaRPr lang="es-AR" dirty="0"/>
          </a:p>
        </p:txBody>
      </p:sp>
      <p:sp>
        <p:nvSpPr>
          <p:cNvPr id="3" name="Marcador de contenido 2"/>
          <p:cNvSpPr>
            <a:spLocks noGrp="1"/>
          </p:cNvSpPr>
          <p:nvPr>
            <p:ph idx="1"/>
          </p:nvPr>
        </p:nvSpPr>
        <p:spPr>
          <a:xfrm>
            <a:off x="514350" y="2063750"/>
            <a:ext cx="7796213" cy="3311525"/>
          </a:xfrm>
          <a:prstGeom prst="rect">
            <a:avLst/>
          </a:prstGeom>
        </p:spPr>
        <p:txBody>
          <a:bodyPr>
            <a:normAutofit/>
          </a:bodyPr>
          <a:lstStyle/>
          <a:p>
            <a:r>
              <a:rPr lang="es-AR" dirty="0" smtClean="0"/>
              <a:t>El desarrollo de software basado en componentes (CBSE, </a:t>
            </a:r>
            <a:r>
              <a:rPr lang="en-US" dirty="0" smtClean="0"/>
              <a:t>Component Based Software Engineering</a:t>
            </a:r>
            <a:r>
              <a:rPr lang="es-AR" dirty="0" smtClean="0"/>
              <a:t>) es aquel que está fundamentado en la producción de diversas piezas de software ensambladas de una manera integral que permita el funcionamiento del sistema software como un todo. </a:t>
            </a:r>
          </a:p>
          <a:p>
            <a:r>
              <a:rPr lang="es-AR" dirty="0" smtClean="0"/>
              <a:t>En este contexto, se define a un sistema como “un conjunto de mecanismos y herramientas que permiten la creación e interconexión de componentes software, junto con una colección de servicios para facilitar las labores de los componentes que residen y se ejecutan en él”.</a:t>
            </a:r>
            <a:endParaRPr lang="es-AR" dirty="0"/>
          </a:p>
        </p:txBody>
      </p:sp>
      <p:sp>
        <p:nvSpPr>
          <p:cNvPr id="4" name="Marcador de número de diapositiva 3"/>
          <p:cNvSpPr>
            <a:spLocks noGrp="1"/>
          </p:cNvSpPr>
          <p:nvPr>
            <p:ph type="sldNum" sz="quarter" idx="12"/>
          </p:nvPr>
        </p:nvSpPr>
        <p:spPr/>
        <p:txBody>
          <a:bodyPr/>
          <a:lstStyle/>
          <a:p>
            <a:fld id="{0BC77640-C8A3-4987-B4D8-0AE8AEED414C}" type="slidenum">
              <a:rPr lang="es-ES" altLang="es-AR" smtClean="0"/>
              <a:pPr/>
              <a:t>4</a:t>
            </a:fld>
            <a:endParaRPr lang="es-ES" altLang="es-AR"/>
          </a:p>
        </p:txBody>
      </p:sp>
    </p:spTree>
    <p:extLst>
      <p:ext uri="{BB962C8B-B14F-4D97-AF65-F5344CB8AC3E}">
        <p14:creationId xmlns:p14="http://schemas.microsoft.com/office/powerpoint/2010/main" val="39294431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smtClean="0"/>
              <a:t>CBSE. Componentes.</a:t>
            </a:r>
            <a:endParaRPr lang="es-AR" dirty="0"/>
          </a:p>
        </p:txBody>
      </p:sp>
      <p:sp>
        <p:nvSpPr>
          <p:cNvPr id="3" name="Marcador de contenido 2"/>
          <p:cNvSpPr>
            <a:spLocks noGrp="1"/>
          </p:cNvSpPr>
          <p:nvPr>
            <p:ph idx="1"/>
          </p:nvPr>
        </p:nvSpPr>
        <p:spPr>
          <a:xfrm>
            <a:off x="514350" y="2063750"/>
            <a:ext cx="7796213" cy="3311525"/>
          </a:xfrm>
          <a:prstGeom prst="rect">
            <a:avLst/>
          </a:prstGeom>
        </p:spPr>
        <p:txBody>
          <a:bodyPr/>
          <a:lstStyle/>
          <a:p>
            <a:r>
              <a:rPr lang="es-AR" dirty="0" smtClean="0"/>
              <a:t>Un componente es una pieza de código preelaborado que encapsula alguna funcionalidad expuesta a través de interfaces estándar. </a:t>
            </a:r>
          </a:p>
          <a:p>
            <a:endParaRPr lang="es-AR" dirty="0" smtClean="0"/>
          </a:p>
          <a:p>
            <a:r>
              <a:rPr lang="es-AR" dirty="0" smtClean="0"/>
              <a:t>Componentes: “unidad de composición de aplicaciones software que posee un conjunto de requisitos y que ha de poder ser desarrollado, adquirido, incorporado al sistema y compuesto por otros componentes, de forma independiente en tiempo y forma”. </a:t>
            </a:r>
          </a:p>
          <a:p>
            <a:endParaRPr lang="es-AR" dirty="0"/>
          </a:p>
        </p:txBody>
      </p:sp>
      <p:sp>
        <p:nvSpPr>
          <p:cNvPr id="4" name="Marcador de número de diapositiva 3"/>
          <p:cNvSpPr>
            <a:spLocks noGrp="1"/>
          </p:cNvSpPr>
          <p:nvPr>
            <p:ph type="sldNum" sz="quarter" idx="12"/>
          </p:nvPr>
        </p:nvSpPr>
        <p:spPr/>
        <p:txBody>
          <a:bodyPr/>
          <a:lstStyle/>
          <a:p>
            <a:fld id="{0BC77640-C8A3-4987-B4D8-0AE8AEED414C}" type="slidenum">
              <a:rPr lang="es-ES" altLang="es-AR" smtClean="0"/>
              <a:pPr/>
              <a:t>5</a:t>
            </a:fld>
            <a:endParaRPr lang="es-ES" altLang="es-AR"/>
          </a:p>
        </p:txBody>
      </p:sp>
    </p:spTree>
    <p:extLst>
      <p:ext uri="{BB962C8B-B14F-4D97-AF65-F5344CB8AC3E}">
        <p14:creationId xmlns:p14="http://schemas.microsoft.com/office/powerpoint/2010/main" val="19709315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smtClean="0"/>
              <a:t>CBSE. Ventajas.</a:t>
            </a:r>
            <a:endParaRPr lang="es-AR" dirty="0"/>
          </a:p>
        </p:txBody>
      </p:sp>
      <p:sp>
        <p:nvSpPr>
          <p:cNvPr id="3" name="Marcador de contenido 2"/>
          <p:cNvSpPr>
            <a:spLocks noGrp="1"/>
          </p:cNvSpPr>
          <p:nvPr>
            <p:ph idx="1"/>
          </p:nvPr>
        </p:nvSpPr>
        <p:spPr>
          <a:xfrm>
            <a:off x="514350" y="2063750"/>
            <a:ext cx="7796213" cy="3311525"/>
          </a:xfrm>
          <a:prstGeom prst="rect">
            <a:avLst/>
          </a:prstGeom>
        </p:spPr>
        <p:txBody>
          <a:bodyPr/>
          <a:lstStyle/>
          <a:p>
            <a:r>
              <a:rPr lang="es-AR" smtClean="0"/>
              <a:t>Reutilización de software</a:t>
            </a:r>
          </a:p>
          <a:p>
            <a:r>
              <a:rPr lang="es-AR" smtClean="0"/>
              <a:t>Simplificación de las pruebas</a:t>
            </a:r>
          </a:p>
          <a:p>
            <a:r>
              <a:rPr lang="es-AR" smtClean="0"/>
              <a:t>Simplificación del mantenimiento del sistema</a:t>
            </a:r>
          </a:p>
          <a:p>
            <a:r>
              <a:rPr lang="es-AR" smtClean="0"/>
              <a:t>Una mayor calidad de los componentes.</a:t>
            </a:r>
          </a:p>
          <a:p>
            <a:endParaRPr lang="es-AR" dirty="0"/>
          </a:p>
        </p:txBody>
      </p:sp>
      <p:sp>
        <p:nvSpPr>
          <p:cNvPr id="4" name="Marcador de número de diapositiva 3"/>
          <p:cNvSpPr>
            <a:spLocks noGrp="1"/>
          </p:cNvSpPr>
          <p:nvPr>
            <p:ph type="sldNum" sz="quarter" idx="12"/>
          </p:nvPr>
        </p:nvSpPr>
        <p:spPr/>
        <p:txBody>
          <a:bodyPr/>
          <a:lstStyle/>
          <a:p>
            <a:fld id="{0BC77640-C8A3-4987-B4D8-0AE8AEED414C}" type="slidenum">
              <a:rPr lang="es-ES" altLang="es-AR" smtClean="0"/>
              <a:pPr/>
              <a:t>6</a:t>
            </a:fld>
            <a:endParaRPr lang="es-ES" altLang="es-AR"/>
          </a:p>
        </p:txBody>
      </p:sp>
    </p:spTree>
    <p:extLst>
      <p:ext uri="{BB962C8B-B14F-4D97-AF65-F5344CB8AC3E}">
        <p14:creationId xmlns:p14="http://schemas.microsoft.com/office/powerpoint/2010/main" val="31281158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p:cNvSpPr>
            <a:spLocks noGrp="1" noChangeArrowheads="1"/>
          </p:cNvSpPr>
          <p:nvPr>
            <p:ph type="ctrTitle"/>
          </p:nvPr>
        </p:nvSpPr>
        <p:spPr/>
        <p:txBody>
          <a:bodyPr/>
          <a:lstStyle/>
          <a:p>
            <a:r>
              <a:rPr lang="es-ES_tradnl" dirty="0" smtClean="0"/>
              <a:t>SERVICIOS web</a:t>
            </a:r>
            <a:endParaRPr lang="es-ES" dirty="0"/>
          </a:p>
        </p:txBody>
      </p:sp>
      <p:sp>
        <p:nvSpPr>
          <p:cNvPr id="39939" name="Rectangle 3"/>
          <p:cNvSpPr>
            <a:spLocks noGrp="1" noChangeArrowheads="1"/>
          </p:cNvSpPr>
          <p:nvPr>
            <p:ph type="subTitle" idx="1"/>
          </p:nvPr>
        </p:nvSpPr>
        <p:spPr/>
        <p:txBody>
          <a:bodyPr/>
          <a:lstStyle/>
          <a:p>
            <a:endParaRPr lang="es-AR" dirty="0"/>
          </a:p>
        </p:txBody>
      </p:sp>
    </p:spTree>
    <p:extLst>
      <p:ext uri="{BB962C8B-B14F-4D97-AF65-F5344CB8AC3E}">
        <p14:creationId xmlns:p14="http://schemas.microsoft.com/office/powerpoint/2010/main" val="35546814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s-ES" smtClean="0"/>
              <a:t>Servicios Web</a:t>
            </a:r>
            <a:endParaRPr lang="en-US" dirty="0" smtClean="0"/>
          </a:p>
        </p:txBody>
      </p:sp>
      <p:sp>
        <p:nvSpPr>
          <p:cNvPr id="4" name="Marcador de contenido 3"/>
          <p:cNvSpPr>
            <a:spLocks noGrp="1"/>
          </p:cNvSpPr>
          <p:nvPr>
            <p:ph idx="1"/>
          </p:nvPr>
        </p:nvSpPr>
        <p:spPr>
          <a:xfrm>
            <a:off x="514350" y="2063750"/>
            <a:ext cx="7796213" cy="3311525"/>
          </a:xfrm>
          <a:prstGeom prst="rect">
            <a:avLst/>
          </a:prstGeom>
        </p:spPr>
        <p:txBody>
          <a:bodyPr>
            <a:normAutofit fontScale="92500" lnSpcReduction="10000"/>
          </a:bodyPr>
          <a:lstStyle/>
          <a:p>
            <a:r>
              <a:rPr lang="es-ES" dirty="0" smtClean="0"/>
              <a:t>Un servicio puede ser definido como:</a:t>
            </a:r>
          </a:p>
          <a:p>
            <a:pPr lvl="1"/>
            <a:r>
              <a:rPr lang="es-ES" dirty="0" smtClean="0"/>
              <a:t>Un componente de software reutilizable de acoplamiento flexible que encapsula la funcionalidad discreta que puede ser distribuido y accesible mediante programación. Un servicio web es un servicio que se accede a través de protocolos de Internet y basado en XML estándar</a:t>
            </a:r>
          </a:p>
          <a:p>
            <a:r>
              <a:rPr lang="es-ES" dirty="0" smtClean="0"/>
              <a:t>Una distinción fundamental entre un servicio y un componente tal como se define en CBSE es que los servicios son independientes</a:t>
            </a:r>
          </a:p>
          <a:p>
            <a:r>
              <a:rPr lang="es-ES" dirty="0" smtClean="0"/>
              <a:t>Se deben definir:</a:t>
            </a:r>
          </a:p>
          <a:p>
            <a:pPr lvl="1"/>
            <a:r>
              <a:rPr lang="es-ES" dirty="0" smtClean="0"/>
              <a:t>las operaciones compatibles con el servicio y el formato de los mensajes enviados y recibidos por el servicio</a:t>
            </a:r>
          </a:p>
          <a:p>
            <a:pPr lvl="1"/>
            <a:r>
              <a:rPr lang="es-ES" dirty="0" smtClean="0"/>
              <a:t>dónde se encuentra y cómo se accede al servicio</a:t>
            </a:r>
          </a:p>
          <a:p>
            <a:endParaRPr lang="es-AR" dirty="0"/>
          </a:p>
        </p:txBody>
      </p:sp>
    </p:spTree>
    <p:extLst>
      <p:ext uri="{BB962C8B-B14F-4D97-AF65-F5344CB8AC3E}">
        <p14:creationId xmlns:p14="http://schemas.microsoft.com/office/powerpoint/2010/main" val="3367415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s-ES" smtClean="0"/>
              <a:t>SOA vs Servicios Web</a:t>
            </a:r>
            <a:endParaRPr lang="en-US" dirty="0" smtClean="0"/>
          </a:p>
        </p:txBody>
      </p:sp>
      <p:sp>
        <p:nvSpPr>
          <p:cNvPr id="4" name="Marcador de contenido 3"/>
          <p:cNvSpPr>
            <a:spLocks noGrp="1"/>
          </p:cNvSpPr>
          <p:nvPr>
            <p:ph idx="1"/>
          </p:nvPr>
        </p:nvSpPr>
        <p:spPr>
          <a:xfrm>
            <a:off x="514350" y="2063750"/>
            <a:ext cx="7796213" cy="3311525"/>
          </a:xfrm>
          <a:prstGeom prst="rect">
            <a:avLst/>
          </a:prstGeom>
        </p:spPr>
        <p:txBody>
          <a:bodyPr/>
          <a:lstStyle/>
          <a:p>
            <a:r>
              <a:rPr lang="es-AR" smtClean="0"/>
              <a:t>Con SOA, toda la infraestructura de tecnologías de la información (TI) presenta sus funcionalidades como servicios que ofrecen un claro valor de negocio</a:t>
            </a:r>
          </a:p>
          <a:p>
            <a:r>
              <a:rPr lang="es-AR" smtClean="0"/>
              <a:t>SOA involucra servicios web</a:t>
            </a:r>
          </a:p>
          <a:p>
            <a:r>
              <a:rPr lang="es-AR" smtClean="0"/>
              <a:t>Pero un servicio web puede ser utilizado en otro estilo arquitectónico</a:t>
            </a:r>
            <a:endParaRPr lang="es-AR" dirty="0" smtClean="0"/>
          </a:p>
        </p:txBody>
      </p:sp>
    </p:spTree>
    <p:extLst>
      <p:ext uri="{BB962C8B-B14F-4D97-AF65-F5344CB8AC3E}">
        <p14:creationId xmlns:p14="http://schemas.microsoft.com/office/powerpoint/2010/main" val="31391827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Ejemplo WS</a:t>
            </a:r>
            <a:endParaRPr lang="es-AR" dirty="0"/>
          </a:p>
        </p:txBody>
      </p:sp>
      <p:sp>
        <p:nvSpPr>
          <p:cNvPr id="3" name="Marcador de contenido 2"/>
          <p:cNvSpPr>
            <a:spLocks noGrp="1"/>
          </p:cNvSpPr>
          <p:nvPr>
            <p:ph idx="1"/>
          </p:nvPr>
        </p:nvSpPr>
        <p:spPr>
          <a:xfrm>
            <a:off x="514351" y="2063396"/>
            <a:ext cx="7796030" cy="3311189"/>
          </a:xfrm>
          <a:prstGeom prst="rect">
            <a:avLst/>
          </a:prstGeom>
        </p:spPr>
        <p:txBody>
          <a:bodyPr/>
          <a:lstStyle/>
          <a:p>
            <a:r>
              <a:rPr lang="es-AR" dirty="0">
                <a:hlinkClick r:id="rId2"/>
              </a:rPr>
              <a:t>http://www.afip.gob.ar/ws</a:t>
            </a:r>
            <a:r>
              <a:rPr lang="es-AR" dirty="0" smtClean="0">
                <a:hlinkClick r:id="rId2"/>
              </a:rPr>
              <a:t>/</a:t>
            </a:r>
            <a:endParaRPr lang="es-AR" dirty="0" smtClean="0"/>
          </a:p>
          <a:p>
            <a:r>
              <a:rPr lang="es-AR" dirty="0"/>
              <a:t>Web </a:t>
            </a:r>
            <a:r>
              <a:rPr lang="es-AR" dirty="0" err="1"/>
              <a:t>Service</a:t>
            </a:r>
            <a:r>
              <a:rPr lang="es-AR" dirty="0"/>
              <a:t> de Factura Electrónica ("</a:t>
            </a:r>
            <a:r>
              <a:rPr lang="es-AR" dirty="0" err="1"/>
              <a:t>wsmtxca</a:t>
            </a:r>
            <a:r>
              <a:rPr lang="es-AR" dirty="0"/>
              <a:t>"), comprobantes "A" y "B" con detalle de </a:t>
            </a:r>
            <a:r>
              <a:rPr lang="es-AR" dirty="0" err="1"/>
              <a:t>items</a:t>
            </a:r>
            <a:r>
              <a:rPr lang="es-AR" dirty="0"/>
              <a:t>, CAE y CAEA.</a:t>
            </a:r>
          </a:p>
          <a:p>
            <a:r>
              <a:rPr lang="es-AR" dirty="0"/>
              <a:t>Documentación WS: http://www.afip.gob.ar/fe/documentos/manualdesarrolladormtx_v0_3.pdf</a:t>
            </a:r>
          </a:p>
        </p:txBody>
      </p:sp>
      <p:sp>
        <p:nvSpPr>
          <p:cNvPr id="4" name="Marcador de número de diapositiva 3"/>
          <p:cNvSpPr>
            <a:spLocks noGrp="1"/>
          </p:cNvSpPr>
          <p:nvPr>
            <p:ph type="sldNum" sz="quarter" idx="12"/>
          </p:nvPr>
        </p:nvSpPr>
        <p:spPr/>
        <p:txBody>
          <a:bodyPr/>
          <a:lstStyle/>
          <a:p>
            <a:pPr>
              <a:defRPr/>
            </a:pPr>
            <a:fld id="{0BC77640-C8A3-4987-B4D8-0AE8AEED414C}" type="slidenum">
              <a:rPr lang="es-ES" altLang="es-AR" smtClean="0"/>
              <a:pPr>
                <a:defRPr/>
              </a:pPr>
              <a:t>10</a:t>
            </a:fld>
            <a:endParaRPr lang="es-ES" altLang="es-AR" dirty="0"/>
          </a:p>
        </p:txBody>
      </p:sp>
    </p:spTree>
    <p:extLst>
      <p:ext uri="{BB962C8B-B14F-4D97-AF65-F5344CB8AC3E}">
        <p14:creationId xmlns:p14="http://schemas.microsoft.com/office/powerpoint/2010/main" val="15381736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p:cNvSpPr>
            <a:spLocks noGrp="1" noChangeArrowheads="1"/>
          </p:cNvSpPr>
          <p:nvPr>
            <p:ph type="ctrTitle"/>
          </p:nvPr>
        </p:nvSpPr>
        <p:spPr/>
        <p:txBody>
          <a:bodyPr/>
          <a:lstStyle/>
          <a:p>
            <a:r>
              <a:rPr lang="es-ES_tradnl" dirty="0" smtClean="0"/>
              <a:t>MICROSERVICIOS</a:t>
            </a:r>
            <a:endParaRPr lang="es-ES" dirty="0"/>
          </a:p>
        </p:txBody>
      </p:sp>
      <p:sp>
        <p:nvSpPr>
          <p:cNvPr id="39939" name="Rectangle 3"/>
          <p:cNvSpPr>
            <a:spLocks noGrp="1" noChangeArrowheads="1"/>
          </p:cNvSpPr>
          <p:nvPr>
            <p:ph type="subTitle" idx="1"/>
          </p:nvPr>
        </p:nvSpPr>
        <p:spPr/>
        <p:txBody>
          <a:bodyPr/>
          <a:lstStyle/>
          <a:p>
            <a:endParaRPr lang="es-AR" dirty="0"/>
          </a:p>
        </p:txBody>
      </p:sp>
    </p:spTree>
    <p:extLst>
      <p:ext uri="{BB962C8B-B14F-4D97-AF65-F5344CB8AC3E}">
        <p14:creationId xmlns:p14="http://schemas.microsoft.com/office/powerpoint/2010/main" val="23097300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err="1" smtClean="0"/>
              <a:t>Microservicios</a:t>
            </a:r>
            <a:endParaRPr lang="es-AR" dirty="0"/>
          </a:p>
        </p:txBody>
      </p:sp>
      <p:sp>
        <p:nvSpPr>
          <p:cNvPr id="3" name="Marcador de contenido 2"/>
          <p:cNvSpPr>
            <a:spLocks noGrp="1"/>
          </p:cNvSpPr>
          <p:nvPr>
            <p:ph idx="1"/>
          </p:nvPr>
        </p:nvSpPr>
        <p:spPr>
          <a:xfrm>
            <a:off x="514351" y="2063396"/>
            <a:ext cx="7796030" cy="3311189"/>
          </a:xfrm>
          <a:prstGeom prst="rect">
            <a:avLst/>
          </a:prstGeom>
        </p:spPr>
        <p:txBody>
          <a:bodyPr>
            <a:normAutofit/>
          </a:bodyPr>
          <a:lstStyle/>
          <a:p>
            <a:r>
              <a:rPr lang="es-AR" dirty="0" smtClean="0"/>
              <a:t>Caracterización particular de los Servicios Web</a:t>
            </a:r>
          </a:p>
          <a:p>
            <a:r>
              <a:rPr lang="es-AR" dirty="0" smtClean="0"/>
              <a:t>El concepto de arquitectura </a:t>
            </a:r>
            <a:r>
              <a:rPr lang="es-AR" dirty="0" err="1" smtClean="0"/>
              <a:t>microservicio</a:t>
            </a:r>
            <a:r>
              <a:rPr lang="es-AR" dirty="0" smtClean="0"/>
              <a:t> </a:t>
            </a:r>
            <a:r>
              <a:rPr lang="es-AR" dirty="0"/>
              <a:t>ha surgido en los últimos años para describir una forma particular de diseñar aplicaciones de software como suites de servicios con independencia de despliegue. Si bien no existe una definición precisa de este estilo arquitectónico, hay ciertas características comunes alrededor de organización en torno a la capacidad del negocio, el despliegue automatizado, la inteligencia en los puntos finales, y el control descentralizado de los lenguajes y los datos.</a:t>
            </a:r>
          </a:p>
        </p:txBody>
      </p:sp>
      <p:sp>
        <p:nvSpPr>
          <p:cNvPr id="4" name="Marcador de número de diapositiva 3"/>
          <p:cNvSpPr>
            <a:spLocks noGrp="1"/>
          </p:cNvSpPr>
          <p:nvPr>
            <p:ph type="sldNum" sz="quarter" idx="12"/>
          </p:nvPr>
        </p:nvSpPr>
        <p:spPr/>
        <p:txBody>
          <a:bodyPr/>
          <a:lstStyle/>
          <a:p>
            <a:pPr>
              <a:defRPr/>
            </a:pPr>
            <a:fld id="{0BC77640-C8A3-4987-B4D8-0AE8AEED414C}" type="slidenum">
              <a:rPr lang="es-ES" altLang="es-AR" smtClean="0"/>
              <a:pPr>
                <a:defRPr/>
              </a:pPr>
              <a:t>12</a:t>
            </a:fld>
            <a:endParaRPr lang="es-ES" altLang="es-AR" dirty="0"/>
          </a:p>
        </p:txBody>
      </p:sp>
    </p:spTree>
    <p:extLst>
      <p:ext uri="{BB962C8B-B14F-4D97-AF65-F5344CB8AC3E}">
        <p14:creationId xmlns:p14="http://schemas.microsoft.com/office/powerpoint/2010/main" val="20902865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AutoShape 2"/>
          <p:cNvSpPr>
            <a:spLocks noGrp="1" noChangeArrowheads="1"/>
          </p:cNvSpPr>
          <p:nvPr>
            <p:ph type="title"/>
          </p:nvPr>
        </p:nvSpPr>
        <p:spPr/>
        <p:txBody>
          <a:bodyPr/>
          <a:lstStyle/>
          <a:p>
            <a:r>
              <a:rPr lang="es-AR" dirty="0" err="1" smtClean="0"/>
              <a:t>Microservicios</a:t>
            </a:r>
            <a:endParaRPr lang="es-ES" dirty="0"/>
          </a:p>
        </p:txBody>
      </p:sp>
      <p:sp>
        <p:nvSpPr>
          <p:cNvPr id="32771" name="Rectangle 3"/>
          <p:cNvSpPr>
            <a:spLocks noGrp="1" noChangeArrowheads="1"/>
          </p:cNvSpPr>
          <p:nvPr>
            <p:ph idx="1"/>
          </p:nvPr>
        </p:nvSpPr>
        <p:spPr>
          <a:xfrm>
            <a:off x="514350" y="2063750"/>
            <a:ext cx="7796213" cy="3311525"/>
          </a:xfrm>
          <a:prstGeom prst="rect">
            <a:avLst/>
          </a:prstGeom>
        </p:spPr>
        <p:txBody>
          <a:bodyPr/>
          <a:lstStyle/>
          <a:p>
            <a:r>
              <a:rPr lang="es-AR" smtClean="0"/>
              <a:t>La arquitectura de microservicios mantiene un sistema similar a un gobierno descentralizado, donde cada módulo contará por ejemplo con su propia base de datos, en lugar de acudir todos a la misma sobrecargándola así de solicitudes y arriesgándonos a que si falla ésta, todas la aplicación caiga.</a:t>
            </a:r>
            <a:endParaRPr lang="es-AR" dirty="0"/>
          </a:p>
        </p:txBody>
      </p:sp>
    </p:spTree>
    <p:extLst>
      <p:ext uri="{BB962C8B-B14F-4D97-AF65-F5344CB8AC3E}">
        <p14:creationId xmlns:p14="http://schemas.microsoft.com/office/powerpoint/2010/main" val="33951654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p:cNvSpPr>
            <a:spLocks noGrp="1" noChangeArrowheads="1"/>
          </p:cNvSpPr>
          <p:nvPr>
            <p:ph type="ctrTitle"/>
          </p:nvPr>
        </p:nvSpPr>
        <p:spPr/>
        <p:txBody>
          <a:bodyPr/>
          <a:lstStyle/>
          <a:p>
            <a:r>
              <a:rPr lang="es-ES_tradnl" dirty="0" smtClean="0"/>
              <a:t>ESTILOS DE COMUNICACIÓN</a:t>
            </a:r>
            <a:endParaRPr lang="es-ES" dirty="0"/>
          </a:p>
        </p:txBody>
      </p:sp>
      <p:sp>
        <p:nvSpPr>
          <p:cNvPr id="39939" name="Rectangle 3"/>
          <p:cNvSpPr>
            <a:spLocks noGrp="1" noChangeArrowheads="1"/>
          </p:cNvSpPr>
          <p:nvPr>
            <p:ph type="subTitle" idx="1"/>
          </p:nvPr>
        </p:nvSpPr>
        <p:spPr/>
        <p:txBody>
          <a:bodyPr/>
          <a:lstStyle/>
          <a:p>
            <a:r>
              <a:rPr lang="es-AR" dirty="0" err="1" smtClean="0"/>
              <a:t>Stateless</a:t>
            </a:r>
            <a:r>
              <a:rPr lang="es-AR" dirty="0" smtClean="0"/>
              <a:t> y </a:t>
            </a:r>
            <a:r>
              <a:rPr lang="es-AR" dirty="0" err="1" smtClean="0"/>
              <a:t>Stateful</a:t>
            </a:r>
            <a:endParaRPr lang="es-AR" dirty="0"/>
          </a:p>
        </p:txBody>
      </p:sp>
    </p:spTree>
    <p:extLst>
      <p:ext uri="{BB962C8B-B14F-4D97-AF65-F5344CB8AC3E}">
        <p14:creationId xmlns:p14="http://schemas.microsoft.com/office/powerpoint/2010/main" val="2287954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smtClean="0"/>
              <a:t>Servidores con o sin estado</a:t>
            </a:r>
            <a:endParaRPr lang="es-AR" dirty="0"/>
          </a:p>
        </p:txBody>
      </p:sp>
      <p:sp>
        <p:nvSpPr>
          <p:cNvPr id="28675" name="Rectangle 3"/>
          <p:cNvSpPr>
            <a:spLocks noGrp="1" noChangeArrowheads="1"/>
          </p:cNvSpPr>
          <p:nvPr>
            <p:ph idx="1"/>
          </p:nvPr>
        </p:nvSpPr>
        <p:spPr>
          <a:xfrm>
            <a:off x="514351" y="2063396"/>
            <a:ext cx="7796030" cy="3311189"/>
          </a:xfrm>
          <a:prstGeom prst="rect">
            <a:avLst/>
          </a:prstGeom>
        </p:spPr>
        <p:txBody>
          <a:bodyPr>
            <a:normAutofit fontScale="92500" lnSpcReduction="10000"/>
          </a:bodyPr>
          <a:lstStyle/>
          <a:p>
            <a:r>
              <a:rPr lang="es-CL" smtClean="0"/>
              <a:t>¿ Qué es el Estado ?</a:t>
            </a:r>
          </a:p>
          <a:p>
            <a:pPr lvl="1"/>
            <a:r>
              <a:rPr lang="es-CL" smtClean="0"/>
              <a:t>El “estado” es la información que los servidores mantienen acerca de la interacción que se lleva a cabo con los clientes.</a:t>
            </a:r>
          </a:p>
          <a:p>
            <a:r>
              <a:rPr lang="es-CL" smtClean="0"/>
              <a:t>¿ Para qué ?</a:t>
            </a:r>
          </a:p>
          <a:p>
            <a:pPr lvl="1"/>
            <a:r>
              <a:rPr lang="es-CL" smtClean="0"/>
              <a:t>Generalmente se hace más eficiente el comportamiento de los servidores con información. Información muy breve mantenida en el servidor puede hacer más chicos los mensajes o permite producir respuestas más rápido.</a:t>
            </a:r>
          </a:p>
          <a:p>
            <a:r>
              <a:rPr lang="es-CL" smtClean="0"/>
              <a:t>¿ Y entonces por qué se evita a veces ?</a:t>
            </a:r>
          </a:p>
          <a:p>
            <a:pPr lvl="1"/>
            <a:r>
              <a:rPr lang="es-CL" smtClean="0"/>
              <a:t>Es fuente de errores: mensajes del cliente pueden perderse, duplicarse llegar en desorden. El cliente puede caerse y rebootear, con lo cual la información que tiene el servidor de él es errónea y también sus respuestas</a:t>
            </a:r>
            <a:endParaRPr lang="es-CL" dirty="0"/>
          </a:p>
        </p:txBody>
      </p:sp>
    </p:spTree>
    <p:extLst>
      <p:ext uri="{BB962C8B-B14F-4D97-AF65-F5344CB8AC3E}">
        <p14:creationId xmlns:p14="http://schemas.microsoft.com/office/powerpoint/2010/main" val="17681382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AutoShape 2"/>
          <p:cNvSpPr>
            <a:spLocks noGrp="1" noChangeArrowheads="1"/>
          </p:cNvSpPr>
          <p:nvPr>
            <p:ph type="title"/>
          </p:nvPr>
        </p:nvSpPr>
        <p:spPr/>
        <p:txBody>
          <a:bodyPr/>
          <a:lstStyle/>
          <a:p>
            <a:r>
              <a:rPr lang="es-AR" cap="none" dirty="0" smtClean="0"/>
              <a:t>STALESS</a:t>
            </a:r>
            <a:endParaRPr lang="es-ES" cap="none" dirty="0"/>
          </a:p>
        </p:txBody>
      </p:sp>
      <p:sp>
        <p:nvSpPr>
          <p:cNvPr id="45059" name="Rectangle 3"/>
          <p:cNvSpPr>
            <a:spLocks noGrp="1" noChangeArrowheads="1"/>
          </p:cNvSpPr>
          <p:nvPr>
            <p:ph idx="1"/>
          </p:nvPr>
        </p:nvSpPr>
        <p:spPr>
          <a:xfrm>
            <a:off x="514351" y="2063396"/>
            <a:ext cx="7796030" cy="3311189"/>
          </a:xfrm>
          <a:prstGeom prst="rect">
            <a:avLst/>
          </a:prstGeom>
        </p:spPr>
        <p:txBody>
          <a:bodyPr>
            <a:normAutofit/>
          </a:bodyPr>
          <a:lstStyle/>
          <a:p>
            <a:r>
              <a:rPr lang="es-AR" cap="none" dirty="0" smtClean="0"/>
              <a:t>Sin estado</a:t>
            </a:r>
          </a:p>
          <a:p>
            <a:r>
              <a:rPr lang="es-AR" cap="none" dirty="0" smtClean="0"/>
              <a:t>Se </a:t>
            </a:r>
            <a:r>
              <a:rPr lang="es-AR" cap="none" dirty="0"/>
              <a:t>trata cada petición como una transacción independiente que no tiene relación con cualquier solicitud anterior, de modo que la comunicación se compone de pares independientes de </a:t>
            </a:r>
            <a:r>
              <a:rPr lang="es-AR" i="1" cap="none" dirty="0"/>
              <a:t>solicitud</a:t>
            </a:r>
            <a:r>
              <a:rPr lang="es-AR" cap="none" dirty="0"/>
              <a:t> y </a:t>
            </a:r>
            <a:r>
              <a:rPr lang="es-AR" i="1" cap="none" dirty="0" smtClean="0"/>
              <a:t>respuesta</a:t>
            </a:r>
          </a:p>
          <a:p>
            <a:r>
              <a:rPr lang="es-AR" cap="none" dirty="0"/>
              <a:t>Un protocolo sin estado no requiere que </a:t>
            </a:r>
            <a:r>
              <a:rPr lang="es-AR" cap="none" dirty="0" smtClean="0"/>
              <a:t>el servidor</a:t>
            </a:r>
            <a:r>
              <a:rPr lang="es-AR" cap="none" dirty="0"/>
              <a:t> retenga información de </a:t>
            </a:r>
            <a:r>
              <a:rPr lang="es-AR" cap="none" dirty="0" smtClean="0"/>
              <a:t>la sesión</a:t>
            </a:r>
            <a:r>
              <a:rPr lang="es-AR" cap="none" dirty="0"/>
              <a:t> o de estado acerca de cada socio de las comunicaciones durante la duración de múltiples </a:t>
            </a:r>
            <a:r>
              <a:rPr lang="es-AR" cap="none" dirty="0" smtClean="0"/>
              <a:t>peticiones</a:t>
            </a:r>
          </a:p>
          <a:p>
            <a:r>
              <a:rPr lang="es-AR" cap="none" dirty="0" err="1" smtClean="0"/>
              <a:t>Stateless</a:t>
            </a:r>
            <a:r>
              <a:rPr lang="es-AR" cap="none" dirty="0" smtClean="0"/>
              <a:t> </a:t>
            </a:r>
            <a:r>
              <a:rPr lang="es-AR" cap="none" dirty="0" err="1" smtClean="0"/>
              <a:t>Protocol</a:t>
            </a:r>
            <a:r>
              <a:rPr lang="es-AR" cap="none" dirty="0" smtClean="0"/>
              <a:t>: IP – HTTP</a:t>
            </a:r>
          </a:p>
        </p:txBody>
      </p:sp>
      <p:sp>
        <p:nvSpPr>
          <p:cNvPr id="6" name="Marcador de número de diapositiva 3"/>
          <p:cNvSpPr>
            <a:spLocks noGrp="1"/>
          </p:cNvSpPr>
          <p:nvPr>
            <p:ph type="sldNum" sz="quarter" idx="12"/>
          </p:nvPr>
        </p:nvSpPr>
        <p:spPr/>
        <p:txBody>
          <a:bodyPr/>
          <a:lstStyle/>
          <a:p>
            <a:pPr>
              <a:defRPr/>
            </a:pPr>
            <a:fld id="{0BC77640-C8A3-4987-B4D8-0AE8AEED414C}" type="slidenum">
              <a:rPr lang="es-ES" altLang="es-AR" smtClean="0"/>
              <a:pPr>
                <a:defRPr/>
              </a:pPr>
              <a:t>16</a:t>
            </a:fld>
            <a:endParaRPr lang="es-ES" altLang="es-AR" dirty="0"/>
          </a:p>
        </p:txBody>
      </p:sp>
    </p:spTree>
    <p:extLst>
      <p:ext uri="{BB962C8B-B14F-4D97-AF65-F5344CB8AC3E}">
        <p14:creationId xmlns:p14="http://schemas.microsoft.com/office/powerpoint/2010/main" val="12594630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AutoShape 2"/>
          <p:cNvSpPr>
            <a:spLocks noGrp="1" noChangeArrowheads="1"/>
          </p:cNvSpPr>
          <p:nvPr>
            <p:ph type="title"/>
          </p:nvPr>
        </p:nvSpPr>
        <p:spPr/>
        <p:txBody>
          <a:bodyPr/>
          <a:lstStyle/>
          <a:p>
            <a:r>
              <a:rPr lang="es-AR" cap="none" dirty="0" smtClean="0"/>
              <a:t>STALESS</a:t>
            </a:r>
            <a:endParaRPr lang="es-ES" cap="none" dirty="0"/>
          </a:p>
        </p:txBody>
      </p:sp>
      <p:sp>
        <p:nvSpPr>
          <p:cNvPr id="45059" name="Rectangle 3"/>
          <p:cNvSpPr>
            <a:spLocks noGrp="1" noChangeArrowheads="1"/>
          </p:cNvSpPr>
          <p:nvPr>
            <p:ph idx="1"/>
          </p:nvPr>
        </p:nvSpPr>
        <p:spPr>
          <a:xfrm>
            <a:off x="514351" y="2063396"/>
            <a:ext cx="7796030" cy="3311189"/>
          </a:xfrm>
          <a:prstGeom prst="rect">
            <a:avLst/>
          </a:prstGeom>
        </p:spPr>
        <p:txBody>
          <a:bodyPr>
            <a:normAutofit/>
          </a:bodyPr>
          <a:lstStyle/>
          <a:p>
            <a:r>
              <a:rPr lang="es-AR" dirty="0" smtClean="0"/>
              <a:t>El </a:t>
            </a:r>
            <a:r>
              <a:rPr lang="es-AR" dirty="0"/>
              <a:t>diseño sin estado simplifica el diseño del servidor porque no hay necesidad de asignar dinámicamente almacenamiento para tratar las conversaciones en curso. Si un cliente desaparece en medio de la transacción, ninguna parte del sistema tiene que ser responsable de limpiar el estado actual del servidor.</a:t>
            </a:r>
          </a:p>
          <a:p>
            <a:r>
              <a:rPr lang="es-AR" dirty="0" smtClean="0"/>
              <a:t>Una </a:t>
            </a:r>
            <a:r>
              <a:rPr lang="es-AR" dirty="0"/>
              <a:t>desventaja de los protocolos sin estado es que puede ser necesario incluir información adicional en cada petición, y esta información adicional necesitará ser interpretada por el servidor.</a:t>
            </a:r>
            <a:endParaRPr lang="es-ES" cap="none" dirty="0"/>
          </a:p>
        </p:txBody>
      </p:sp>
      <p:sp>
        <p:nvSpPr>
          <p:cNvPr id="6" name="Marcador de número de diapositiva 3"/>
          <p:cNvSpPr>
            <a:spLocks noGrp="1"/>
          </p:cNvSpPr>
          <p:nvPr>
            <p:ph type="sldNum" sz="quarter" idx="12"/>
          </p:nvPr>
        </p:nvSpPr>
        <p:spPr/>
        <p:txBody>
          <a:bodyPr/>
          <a:lstStyle/>
          <a:p>
            <a:pPr>
              <a:defRPr/>
            </a:pPr>
            <a:fld id="{0BC77640-C8A3-4987-B4D8-0AE8AEED414C}" type="slidenum">
              <a:rPr lang="es-ES" altLang="es-AR" smtClean="0"/>
              <a:pPr>
                <a:defRPr/>
              </a:pPr>
              <a:t>17</a:t>
            </a:fld>
            <a:endParaRPr lang="es-ES" altLang="es-AR" dirty="0"/>
          </a:p>
        </p:txBody>
      </p:sp>
    </p:spTree>
    <p:extLst>
      <p:ext uri="{BB962C8B-B14F-4D97-AF65-F5344CB8AC3E}">
        <p14:creationId xmlns:p14="http://schemas.microsoft.com/office/powerpoint/2010/main" val="24113719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cap="none" dirty="0" smtClean="0"/>
              <a:t>STATEFUL</a:t>
            </a:r>
            <a:endParaRPr lang="es-AR" cap="none" dirty="0"/>
          </a:p>
        </p:txBody>
      </p:sp>
      <p:sp>
        <p:nvSpPr>
          <p:cNvPr id="3" name="Marcador de contenido 2"/>
          <p:cNvSpPr>
            <a:spLocks noGrp="1"/>
          </p:cNvSpPr>
          <p:nvPr>
            <p:ph idx="1"/>
          </p:nvPr>
        </p:nvSpPr>
        <p:spPr>
          <a:xfrm>
            <a:off x="683568" y="1700808"/>
            <a:ext cx="7848872" cy="3777622"/>
          </a:xfrm>
          <a:prstGeom prst="rect">
            <a:avLst/>
          </a:prstGeom>
        </p:spPr>
        <p:txBody>
          <a:bodyPr>
            <a:normAutofit/>
          </a:bodyPr>
          <a:lstStyle/>
          <a:p>
            <a:r>
              <a:rPr lang="es-AR" cap="none" dirty="0" smtClean="0"/>
              <a:t>Con estado</a:t>
            </a:r>
          </a:p>
          <a:p>
            <a:r>
              <a:rPr lang="es-AR" cap="none" dirty="0" smtClean="0"/>
              <a:t>El servidor debe retener </a:t>
            </a:r>
            <a:r>
              <a:rPr lang="es-AR" cap="none" dirty="0"/>
              <a:t>información de la sesión o de estado acerca de cada socio de las comunicaciones durante la duración de múltiples peticiones</a:t>
            </a:r>
          </a:p>
          <a:p>
            <a:r>
              <a:rPr lang="es-AR" cap="none" dirty="0" err="1" smtClean="0"/>
              <a:t>Stateful</a:t>
            </a:r>
            <a:r>
              <a:rPr lang="es-AR" cap="none" dirty="0" smtClean="0"/>
              <a:t> </a:t>
            </a:r>
            <a:r>
              <a:rPr lang="es-AR" cap="none" dirty="0" err="1"/>
              <a:t>Protocol</a:t>
            </a:r>
            <a:r>
              <a:rPr lang="es-AR" cap="none" dirty="0"/>
              <a:t>: </a:t>
            </a:r>
            <a:r>
              <a:rPr lang="es-AR" cap="none" dirty="0" smtClean="0"/>
              <a:t>FTP</a:t>
            </a:r>
          </a:p>
          <a:p>
            <a:r>
              <a:rPr lang="es-AR" cap="none" dirty="0" smtClean="0"/>
              <a:t>Un protocolo FTP lleva </a:t>
            </a:r>
            <a:r>
              <a:rPr lang="es-AR" cap="none" dirty="0"/>
              <a:t>a cabo una sesión interactiva con el usuario. Durante la sesión, al usuario se le proporciona un medio para autenticar y establecer diversas variables (directorio de trabajo, modo de transferencia), todas almacenadas en el servidor como parte del estado del usuario.</a:t>
            </a:r>
          </a:p>
        </p:txBody>
      </p:sp>
      <p:sp>
        <p:nvSpPr>
          <p:cNvPr id="4" name="Marcador de número de diapositiva 3"/>
          <p:cNvSpPr>
            <a:spLocks noGrp="1"/>
          </p:cNvSpPr>
          <p:nvPr>
            <p:ph type="sldNum" sz="quarter" idx="12"/>
          </p:nvPr>
        </p:nvSpPr>
        <p:spPr/>
        <p:txBody>
          <a:bodyPr/>
          <a:lstStyle/>
          <a:p>
            <a:pPr>
              <a:defRPr/>
            </a:pPr>
            <a:fld id="{0BC77640-C8A3-4987-B4D8-0AE8AEED414C}" type="slidenum">
              <a:rPr lang="es-ES" altLang="es-AR" smtClean="0"/>
              <a:pPr>
                <a:defRPr/>
              </a:pPr>
              <a:t>18</a:t>
            </a:fld>
            <a:endParaRPr lang="es-ES" altLang="es-AR" dirty="0"/>
          </a:p>
        </p:txBody>
      </p:sp>
    </p:spTree>
    <p:extLst>
      <p:ext uri="{BB962C8B-B14F-4D97-AF65-F5344CB8AC3E}">
        <p14:creationId xmlns:p14="http://schemas.microsoft.com/office/powerpoint/2010/main" val="35250794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s-ES_tradnl" dirty="0" smtClean="0"/>
              <a:t>Un ejemplo con servidor de archivos</a:t>
            </a:r>
            <a:endParaRPr lang="en-US" dirty="0"/>
          </a:p>
        </p:txBody>
      </p:sp>
      <p:sp>
        <p:nvSpPr>
          <p:cNvPr id="31747" name="Rectangle 3"/>
          <p:cNvSpPr>
            <a:spLocks noGrp="1" noChangeArrowheads="1"/>
          </p:cNvSpPr>
          <p:nvPr>
            <p:ph idx="1"/>
          </p:nvPr>
        </p:nvSpPr>
        <p:spPr>
          <a:xfrm>
            <a:off x="514351" y="2063396"/>
            <a:ext cx="7796030" cy="3311189"/>
          </a:xfrm>
          <a:prstGeom prst="rect">
            <a:avLst/>
          </a:prstGeom>
        </p:spPr>
        <p:txBody>
          <a:bodyPr>
            <a:normAutofit/>
          </a:bodyPr>
          <a:lstStyle/>
          <a:p>
            <a:r>
              <a:rPr lang="es-CL" dirty="0" smtClean="0"/>
              <a:t>El servidor espera que un cliente se conecte por la red. El cliente puede mandar 2 tipos de requerimientos: leer o escribir datos en un archivo. El servidor realiza la operación y retorna el resultado al cliente. </a:t>
            </a:r>
          </a:p>
          <a:p>
            <a:endParaRPr lang="es-CL" dirty="0"/>
          </a:p>
        </p:txBody>
      </p:sp>
    </p:spTree>
    <p:extLst>
      <p:ext uri="{BB962C8B-B14F-4D97-AF65-F5344CB8AC3E}">
        <p14:creationId xmlns:p14="http://schemas.microsoft.com/office/powerpoint/2010/main" val="33945470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Un ejemplo con servidor de archivos</a:t>
            </a:r>
            <a:endParaRPr lang="es-AR" dirty="0"/>
          </a:p>
        </p:txBody>
      </p:sp>
      <p:sp>
        <p:nvSpPr>
          <p:cNvPr id="3" name="Marcador de contenido 2"/>
          <p:cNvSpPr>
            <a:spLocks noGrp="1"/>
          </p:cNvSpPr>
          <p:nvPr>
            <p:ph idx="1"/>
          </p:nvPr>
        </p:nvSpPr>
        <p:spPr>
          <a:xfrm>
            <a:off x="514351" y="2063396"/>
            <a:ext cx="7796030" cy="3311189"/>
          </a:xfrm>
          <a:prstGeom prst="rect">
            <a:avLst/>
          </a:prstGeom>
        </p:spPr>
        <p:txBody>
          <a:bodyPr/>
          <a:lstStyle/>
          <a:p>
            <a:r>
              <a:rPr lang="es-CL" dirty="0"/>
              <a:t>Situación sin guardar información acerca del </a:t>
            </a:r>
            <a:r>
              <a:rPr lang="es-CL" dirty="0" smtClean="0"/>
              <a:t>estado (</a:t>
            </a:r>
            <a:r>
              <a:rPr lang="es-CL" dirty="0" err="1" smtClean="0"/>
              <a:t>Stateless</a:t>
            </a:r>
            <a:r>
              <a:rPr lang="es-CL" dirty="0" smtClean="0"/>
              <a:t>): </a:t>
            </a:r>
            <a:endParaRPr lang="es-CL" dirty="0"/>
          </a:p>
          <a:p>
            <a:pPr lvl="1"/>
            <a:r>
              <a:rPr lang="es-CL" dirty="0"/>
              <a:t>Para leer, el cliente debe siempre especificar: nombre de archivo, posición en el archivo desde dónde debe extraer los datos y el número de bytes a leer.</a:t>
            </a:r>
          </a:p>
          <a:p>
            <a:pPr lvl="1"/>
            <a:r>
              <a:rPr lang="es-CL" dirty="0"/>
              <a:t>Para escribir debe especificar el nombre completo del archivo, el lugar donde quiere escribir y los datos que quiere escribir</a:t>
            </a:r>
          </a:p>
          <a:p>
            <a:endParaRPr lang="es-AR" dirty="0"/>
          </a:p>
        </p:txBody>
      </p:sp>
      <p:sp>
        <p:nvSpPr>
          <p:cNvPr id="4" name="Marcador de número de diapositiva 3"/>
          <p:cNvSpPr>
            <a:spLocks noGrp="1"/>
          </p:cNvSpPr>
          <p:nvPr>
            <p:ph type="sldNum" sz="quarter" idx="12"/>
          </p:nvPr>
        </p:nvSpPr>
        <p:spPr/>
        <p:txBody>
          <a:bodyPr/>
          <a:lstStyle/>
          <a:p>
            <a:pPr>
              <a:defRPr/>
            </a:pPr>
            <a:fld id="{0BC77640-C8A3-4987-B4D8-0AE8AEED414C}" type="slidenum">
              <a:rPr lang="es-ES" altLang="es-AR" smtClean="0"/>
              <a:pPr>
                <a:defRPr/>
              </a:pPr>
              <a:t>20</a:t>
            </a:fld>
            <a:endParaRPr lang="es-ES" altLang="es-AR" dirty="0"/>
          </a:p>
        </p:txBody>
      </p:sp>
    </p:spTree>
    <p:extLst>
      <p:ext uri="{BB962C8B-B14F-4D97-AF65-F5344CB8AC3E}">
        <p14:creationId xmlns:p14="http://schemas.microsoft.com/office/powerpoint/2010/main" val="6801456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26"/>
          <p:cNvSpPr>
            <a:spLocks noGrp="1" noChangeArrowheads="1"/>
          </p:cNvSpPr>
          <p:nvPr>
            <p:ph type="title"/>
          </p:nvPr>
        </p:nvSpPr>
        <p:spPr/>
        <p:txBody>
          <a:bodyPr/>
          <a:lstStyle/>
          <a:p>
            <a:r>
              <a:rPr lang="es-ES_tradnl" dirty="0"/>
              <a:t>Un ejemplo con servidor de archivos</a:t>
            </a:r>
            <a:endParaRPr lang="en-US" dirty="0"/>
          </a:p>
        </p:txBody>
      </p:sp>
      <p:sp>
        <p:nvSpPr>
          <p:cNvPr id="33795" name="Rectangle 1027"/>
          <p:cNvSpPr>
            <a:spLocks noGrp="1" noChangeArrowheads="1"/>
          </p:cNvSpPr>
          <p:nvPr>
            <p:ph idx="1"/>
          </p:nvPr>
        </p:nvSpPr>
        <p:spPr>
          <a:xfrm>
            <a:off x="514351" y="2063396"/>
            <a:ext cx="7796030" cy="3311189"/>
          </a:xfrm>
          <a:prstGeom prst="rect">
            <a:avLst/>
          </a:prstGeom>
        </p:spPr>
        <p:txBody>
          <a:bodyPr/>
          <a:lstStyle/>
          <a:p>
            <a:r>
              <a:rPr lang="es-CL" dirty="0" smtClean="0"/>
              <a:t>Situación </a:t>
            </a:r>
            <a:r>
              <a:rPr lang="es-CL" dirty="0" err="1" smtClean="0"/>
              <a:t>guardardando</a:t>
            </a:r>
            <a:r>
              <a:rPr lang="es-CL" dirty="0" smtClean="0"/>
              <a:t> información del estado (</a:t>
            </a:r>
            <a:r>
              <a:rPr lang="es-CL" dirty="0" err="1" smtClean="0"/>
              <a:t>Stateful</a:t>
            </a:r>
            <a:r>
              <a:rPr lang="es-CL" dirty="0" smtClean="0"/>
              <a:t>): </a:t>
            </a:r>
            <a:endParaRPr lang="es-CL" dirty="0"/>
          </a:p>
        </p:txBody>
      </p:sp>
      <p:graphicFrame>
        <p:nvGraphicFramePr>
          <p:cNvPr id="33796" name="Object 1028"/>
          <p:cNvGraphicFramePr>
            <a:graphicFrameLocks noChangeAspect="1"/>
          </p:cNvGraphicFramePr>
          <p:nvPr>
            <p:extLst>
              <p:ext uri="{D42A27DB-BD31-4B8C-83A1-F6EECF244321}">
                <p14:modId xmlns:p14="http://schemas.microsoft.com/office/powerpoint/2010/main" val="696438738"/>
              </p:ext>
            </p:extLst>
          </p:nvPr>
        </p:nvGraphicFramePr>
        <p:xfrm>
          <a:off x="3275856" y="2636912"/>
          <a:ext cx="4430713" cy="1371600"/>
        </p:xfrm>
        <a:graphic>
          <a:graphicData uri="http://schemas.openxmlformats.org/presentationml/2006/ole">
            <mc:AlternateContent xmlns:mc="http://schemas.openxmlformats.org/markup-compatibility/2006">
              <mc:Choice xmlns:v="urn:schemas-microsoft-com:vml" Requires="v">
                <p:oleObj spid="_x0000_s1031" name="Hoja de cálculo" r:id="rId3" imgW="2477042" imgH="819632" progId="Excel.Sheet.8">
                  <p:embed/>
                </p:oleObj>
              </mc:Choice>
              <mc:Fallback>
                <p:oleObj name="Hoja de cálculo" r:id="rId3" imgW="2477042" imgH="819632" progId="Excel.Shee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5856" y="2636912"/>
                        <a:ext cx="4430713"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7" name="Rectangle 1029"/>
          <p:cNvSpPr>
            <a:spLocks noChangeArrowheads="1"/>
          </p:cNvSpPr>
          <p:nvPr/>
        </p:nvSpPr>
        <p:spPr bwMode="auto">
          <a:xfrm>
            <a:off x="1066800" y="3429000"/>
            <a:ext cx="76962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endParaRPr lang="es-CL" sz="1800" dirty="0" smtClean="0"/>
          </a:p>
          <a:p>
            <a:endParaRPr lang="es-CL" sz="1800" dirty="0"/>
          </a:p>
          <a:p>
            <a:r>
              <a:rPr lang="es-CL" sz="1800" dirty="0" smtClean="0"/>
              <a:t>Cuando </a:t>
            </a:r>
            <a:r>
              <a:rPr lang="es-CL" sz="1800" dirty="0"/>
              <a:t>el cliente abre un archivo se crea un entrada en la tabla. A la entrada se le asigna un </a:t>
            </a:r>
            <a:r>
              <a:rPr lang="es-CL" sz="1800" i="1" dirty="0" err="1"/>
              <a:t>handle</a:t>
            </a:r>
            <a:r>
              <a:rPr lang="es-CL" sz="1800" dirty="0"/>
              <a:t> para identificar el archivo y se le asigna la posición actual (inicialmente 0). El cliente recibe el </a:t>
            </a:r>
            <a:r>
              <a:rPr lang="es-CL" sz="1800" i="1" dirty="0" err="1"/>
              <a:t>handler</a:t>
            </a:r>
            <a:r>
              <a:rPr lang="es-CL" sz="1800" dirty="0"/>
              <a:t> como respuesta.</a:t>
            </a:r>
          </a:p>
          <a:p>
            <a:endParaRPr lang="es-CL" sz="1800" dirty="0"/>
          </a:p>
          <a:p>
            <a:pPr>
              <a:buFontTx/>
              <a:buNone/>
            </a:pPr>
            <a:endParaRPr lang="es-CL" sz="1800" dirty="0"/>
          </a:p>
        </p:txBody>
      </p:sp>
    </p:spTree>
    <p:extLst>
      <p:ext uri="{BB962C8B-B14F-4D97-AF65-F5344CB8AC3E}">
        <p14:creationId xmlns:p14="http://schemas.microsoft.com/office/powerpoint/2010/main" val="38445158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dirty="0"/>
              <a:t>Un ejemplo con servidor de archivos</a:t>
            </a:r>
            <a:endParaRPr lang="es-AR" dirty="0"/>
          </a:p>
        </p:txBody>
      </p:sp>
      <p:sp>
        <p:nvSpPr>
          <p:cNvPr id="3" name="Marcador de contenido 2"/>
          <p:cNvSpPr>
            <a:spLocks noGrp="1"/>
          </p:cNvSpPr>
          <p:nvPr>
            <p:ph idx="1"/>
          </p:nvPr>
        </p:nvSpPr>
        <p:spPr>
          <a:xfrm>
            <a:off x="514351" y="2063396"/>
            <a:ext cx="7796030" cy="3311189"/>
          </a:xfrm>
          <a:prstGeom prst="rect">
            <a:avLst/>
          </a:prstGeom>
        </p:spPr>
        <p:txBody>
          <a:bodyPr/>
          <a:lstStyle/>
          <a:p>
            <a:r>
              <a:rPr lang="es-CL" dirty="0"/>
              <a:t>Cuando el cliente quiere </a:t>
            </a:r>
            <a:r>
              <a:rPr lang="es-CL" dirty="0" smtClean="0"/>
              <a:t>extraer </a:t>
            </a:r>
            <a:r>
              <a:rPr lang="es-CL" dirty="0"/>
              <a:t>datos adicionales le </a:t>
            </a:r>
            <a:r>
              <a:rPr lang="es-CL" dirty="0" smtClean="0"/>
              <a:t>envía </a:t>
            </a:r>
            <a:r>
              <a:rPr lang="es-CL" dirty="0"/>
              <a:t>el </a:t>
            </a:r>
            <a:r>
              <a:rPr lang="es-CL" i="1" dirty="0" err="1"/>
              <a:t>handle</a:t>
            </a:r>
            <a:r>
              <a:rPr lang="es-CL" dirty="0"/>
              <a:t> y la cantidad de bytes. Esto es usado por el servidor para saber gracias a la tabla de dónde exactamente debe extraer los datos (debe actualizar la posición para que para la próxima vez se pueda hacer lo mismo). </a:t>
            </a:r>
          </a:p>
          <a:p>
            <a:r>
              <a:rPr lang="es-CL" dirty="0"/>
              <a:t>Cuando el cliente termina la lectura/escritura envía un mensaje para sea eliminada la entrada de la tabla</a:t>
            </a:r>
          </a:p>
          <a:p>
            <a:endParaRPr lang="es-CL" dirty="0"/>
          </a:p>
          <a:p>
            <a:endParaRPr lang="es-AR" dirty="0"/>
          </a:p>
        </p:txBody>
      </p:sp>
      <p:sp>
        <p:nvSpPr>
          <p:cNvPr id="4" name="Marcador de número de diapositiva 3"/>
          <p:cNvSpPr>
            <a:spLocks noGrp="1"/>
          </p:cNvSpPr>
          <p:nvPr>
            <p:ph type="sldNum" sz="quarter" idx="12"/>
          </p:nvPr>
        </p:nvSpPr>
        <p:spPr/>
        <p:txBody>
          <a:bodyPr/>
          <a:lstStyle/>
          <a:p>
            <a:pPr>
              <a:defRPr/>
            </a:pPr>
            <a:fld id="{0BC77640-C8A3-4987-B4D8-0AE8AEED414C}" type="slidenum">
              <a:rPr lang="es-ES" altLang="es-AR" smtClean="0"/>
              <a:pPr>
                <a:defRPr/>
              </a:pPr>
              <a:t>22</a:t>
            </a:fld>
            <a:endParaRPr lang="es-ES" altLang="es-AR" dirty="0"/>
          </a:p>
        </p:txBody>
      </p:sp>
    </p:spTree>
    <p:extLst>
      <p:ext uri="{BB962C8B-B14F-4D97-AF65-F5344CB8AC3E}">
        <p14:creationId xmlns:p14="http://schemas.microsoft.com/office/powerpoint/2010/main" val="932045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p:cNvSpPr>
            <a:spLocks noGrp="1" noChangeArrowheads="1"/>
          </p:cNvSpPr>
          <p:nvPr>
            <p:ph type="ctrTitle"/>
          </p:nvPr>
        </p:nvSpPr>
        <p:spPr/>
        <p:txBody>
          <a:bodyPr/>
          <a:lstStyle/>
          <a:p>
            <a:r>
              <a:rPr lang="es-ES_tradnl" dirty="0" smtClean="0"/>
              <a:t>SERVICIOS REST</a:t>
            </a:r>
            <a:endParaRPr lang="es-ES" dirty="0"/>
          </a:p>
        </p:txBody>
      </p:sp>
      <p:sp>
        <p:nvSpPr>
          <p:cNvPr id="39939" name="Rectangle 3"/>
          <p:cNvSpPr>
            <a:spLocks noGrp="1" noChangeArrowheads="1"/>
          </p:cNvSpPr>
          <p:nvPr>
            <p:ph type="subTitle" idx="1"/>
          </p:nvPr>
        </p:nvSpPr>
        <p:spPr/>
        <p:txBody>
          <a:bodyPr/>
          <a:lstStyle/>
          <a:p>
            <a:endParaRPr lang="es-AR" dirty="0"/>
          </a:p>
        </p:txBody>
      </p:sp>
    </p:spTree>
    <p:extLst>
      <p:ext uri="{BB962C8B-B14F-4D97-AF65-F5344CB8AC3E}">
        <p14:creationId xmlns:p14="http://schemas.microsoft.com/office/powerpoint/2010/main" val="12605169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t>Qué</a:t>
            </a:r>
            <a:r>
              <a:rPr lang="en-US" dirty="0" smtClean="0"/>
              <a:t> </a:t>
            </a:r>
            <a:r>
              <a:rPr lang="en-US" dirty="0" err="1" smtClean="0"/>
              <a:t>es</a:t>
            </a:r>
            <a:r>
              <a:rPr lang="en-US" dirty="0" smtClean="0"/>
              <a:t> REST</a:t>
            </a:r>
          </a:p>
        </p:txBody>
      </p:sp>
      <p:sp>
        <p:nvSpPr>
          <p:cNvPr id="4" name="Marcador de contenido 3"/>
          <p:cNvSpPr>
            <a:spLocks noGrp="1"/>
          </p:cNvSpPr>
          <p:nvPr>
            <p:ph idx="1"/>
          </p:nvPr>
        </p:nvSpPr>
        <p:spPr>
          <a:xfrm>
            <a:off x="514351" y="2063396"/>
            <a:ext cx="7796030" cy="3311189"/>
          </a:xfrm>
          <a:prstGeom prst="rect">
            <a:avLst/>
          </a:prstGeom>
        </p:spPr>
        <p:txBody>
          <a:bodyPr/>
          <a:lstStyle/>
          <a:p>
            <a:pPr marL="342900" indent="-342900" fontAlgn="base">
              <a:spcBef>
                <a:spcPct val="20000"/>
              </a:spcBef>
              <a:spcAft>
                <a:spcPct val="0"/>
              </a:spcAft>
              <a:defRPr/>
            </a:pPr>
            <a:r>
              <a:rPr lang="es-AR" dirty="0">
                <a:latin typeface="Arial" panose="020B0604020202020204" pitchFamily="34" charset="0"/>
                <a:cs typeface="Arial" panose="020B0604020202020204" pitchFamily="34" charset="0"/>
              </a:rPr>
              <a:t>REST: </a:t>
            </a:r>
            <a:r>
              <a:rPr lang="es-AR" dirty="0" err="1" smtClean="0">
                <a:latin typeface="Arial" panose="020B0604020202020204" pitchFamily="34" charset="0"/>
                <a:cs typeface="Arial" panose="020B0604020202020204" pitchFamily="34" charset="0"/>
              </a:rPr>
              <a:t>REpresentational</a:t>
            </a:r>
            <a:r>
              <a:rPr lang="es-AR" dirty="0" smtClean="0">
                <a:latin typeface="Arial" panose="020B0604020202020204" pitchFamily="34" charset="0"/>
                <a:cs typeface="Arial" panose="020B0604020202020204" pitchFamily="34" charset="0"/>
              </a:rPr>
              <a:t> </a:t>
            </a:r>
            <a:r>
              <a:rPr lang="es-AR" dirty="0" err="1">
                <a:latin typeface="Arial" panose="020B0604020202020204" pitchFamily="34" charset="0"/>
                <a:cs typeface="Arial" panose="020B0604020202020204" pitchFamily="34" charset="0"/>
              </a:rPr>
              <a:t>State</a:t>
            </a:r>
            <a:r>
              <a:rPr lang="es-AR" dirty="0">
                <a:latin typeface="Arial" panose="020B0604020202020204" pitchFamily="34" charset="0"/>
                <a:cs typeface="Arial" panose="020B0604020202020204" pitchFamily="34" charset="0"/>
              </a:rPr>
              <a:t> Transfer (Transferencia de representación de </a:t>
            </a:r>
            <a:r>
              <a:rPr lang="es-AR" dirty="0" smtClean="0">
                <a:latin typeface="Arial" panose="020B0604020202020204" pitchFamily="34" charset="0"/>
                <a:cs typeface="Arial" panose="020B0604020202020204" pitchFamily="34" charset="0"/>
              </a:rPr>
              <a:t>estado)</a:t>
            </a:r>
            <a:endParaRPr lang="es-AR" dirty="0">
              <a:latin typeface="Arial" panose="020B0604020202020204" pitchFamily="34" charset="0"/>
              <a:cs typeface="Arial" panose="020B0604020202020204" pitchFamily="34" charset="0"/>
            </a:endParaRPr>
          </a:p>
          <a:p>
            <a:pPr marL="342900" indent="-342900" fontAlgn="base">
              <a:spcBef>
                <a:spcPct val="20000"/>
              </a:spcBef>
              <a:spcAft>
                <a:spcPct val="0"/>
              </a:spcAft>
              <a:defRPr/>
            </a:pPr>
            <a:r>
              <a:rPr lang="es-AR" dirty="0" smtClean="0">
                <a:latin typeface="Arial" panose="020B0604020202020204" pitchFamily="34" charset="0"/>
                <a:cs typeface="Arial" panose="020B0604020202020204" pitchFamily="34" charset="0"/>
              </a:rPr>
              <a:t>La </a:t>
            </a:r>
            <a:r>
              <a:rPr lang="es-AR" dirty="0">
                <a:latin typeface="Arial" panose="020B0604020202020204" pitchFamily="34" charset="0"/>
                <a:cs typeface="Arial" panose="020B0604020202020204" pitchFamily="34" charset="0"/>
              </a:rPr>
              <a:t>clave de REST es que es </a:t>
            </a:r>
            <a:r>
              <a:rPr lang="es-AR" dirty="0" err="1">
                <a:latin typeface="Arial" panose="020B0604020202020204" pitchFamily="34" charset="0"/>
                <a:cs typeface="Arial" panose="020B0604020202020204" pitchFamily="34" charset="0"/>
              </a:rPr>
              <a:t>stateless</a:t>
            </a:r>
            <a:r>
              <a:rPr lang="es-AR" dirty="0">
                <a:latin typeface="Arial" panose="020B0604020202020204" pitchFamily="34" charset="0"/>
                <a:cs typeface="Arial" panose="020B0604020202020204" pitchFamily="34" charset="0"/>
              </a:rPr>
              <a:t> (sin estado</a:t>
            </a:r>
            <a:r>
              <a:rPr lang="es-AR" dirty="0" smtClean="0">
                <a:latin typeface="Arial" panose="020B0604020202020204" pitchFamily="34" charset="0"/>
                <a:cs typeface="Arial" panose="020B0604020202020204" pitchFamily="34" charset="0"/>
              </a:rPr>
              <a:t>)</a:t>
            </a:r>
          </a:p>
          <a:p>
            <a:pPr marL="342900" indent="-342900" fontAlgn="base">
              <a:spcBef>
                <a:spcPct val="20000"/>
              </a:spcBef>
              <a:spcAft>
                <a:spcPct val="0"/>
              </a:spcAft>
              <a:defRPr/>
            </a:pPr>
            <a:r>
              <a:rPr lang="es-AR" dirty="0" smtClean="0">
                <a:latin typeface="Arial" panose="020B0604020202020204" pitchFamily="34" charset="0"/>
                <a:cs typeface="Arial" panose="020B0604020202020204" pitchFamily="34" charset="0"/>
              </a:rPr>
              <a:t>REST </a:t>
            </a:r>
            <a:r>
              <a:rPr lang="es-AR" dirty="0">
                <a:latin typeface="Arial" panose="020B0604020202020204" pitchFamily="34" charset="0"/>
                <a:cs typeface="Arial" panose="020B0604020202020204" pitchFamily="34" charset="0"/>
              </a:rPr>
              <a:t>es un estilo de arquitectura, no un estándar, aunque se basa en estándares: HTTP, URL, representación de los recursos, Tipo Mime (</a:t>
            </a:r>
            <a:r>
              <a:rPr lang="es-AR" dirty="0" err="1">
                <a:latin typeface="Arial" panose="020B0604020202020204" pitchFamily="34" charset="0"/>
                <a:cs typeface="Arial" panose="020B0604020202020204" pitchFamily="34" charset="0"/>
              </a:rPr>
              <a:t>text</a:t>
            </a:r>
            <a:r>
              <a:rPr lang="es-AR" dirty="0">
                <a:latin typeface="Arial" panose="020B0604020202020204" pitchFamily="34" charset="0"/>
                <a:cs typeface="Arial" panose="020B0604020202020204" pitchFamily="34" charset="0"/>
              </a:rPr>
              <a:t>/</a:t>
            </a:r>
            <a:r>
              <a:rPr lang="es-AR" dirty="0" err="1">
                <a:latin typeface="Arial" panose="020B0604020202020204" pitchFamily="34" charset="0"/>
                <a:cs typeface="Arial" panose="020B0604020202020204" pitchFamily="34" charset="0"/>
              </a:rPr>
              <a:t>xml</a:t>
            </a:r>
            <a:r>
              <a:rPr lang="es-AR" dirty="0">
                <a:latin typeface="Arial" panose="020B0604020202020204" pitchFamily="34" charset="0"/>
                <a:cs typeface="Arial" panose="020B0604020202020204" pitchFamily="34" charset="0"/>
              </a:rPr>
              <a:t>, </a:t>
            </a:r>
            <a:r>
              <a:rPr lang="es-AR" dirty="0" err="1">
                <a:latin typeface="Arial" panose="020B0604020202020204" pitchFamily="34" charset="0"/>
                <a:cs typeface="Arial" panose="020B0604020202020204" pitchFamily="34" charset="0"/>
              </a:rPr>
              <a:t>text</a:t>
            </a:r>
            <a:r>
              <a:rPr lang="es-AR" dirty="0">
                <a:latin typeface="Arial" panose="020B0604020202020204" pitchFamily="34" charset="0"/>
                <a:cs typeface="Arial" panose="020B0604020202020204" pitchFamily="34" charset="0"/>
              </a:rPr>
              <a:t>/</a:t>
            </a:r>
            <a:r>
              <a:rPr lang="es-AR" dirty="0" err="1">
                <a:latin typeface="Arial" panose="020B0604020202020204" pitchFamily="34" charset="0"/>
                <a:cs typeface="Arial" panose="020B0604020202020204" pitchFamily="34" charset="0"/>
              </a:rPr>
              <a:t>html</a:t>
            </a:r>
            <a:r>
              <a:rPr lang="es-AR" dirty="0">
                <a:latin typeface="Arial" panose="020B0604020202020204" pitchFamily="34" charset="0"/>
                <a:cs typeface="Arial" panose="020B0604020202020204" pitchFamily="34" charset="0"/>
              </a:rPr>
              <a:t>)</a:t>
            </a:r>
          </a:p>
          <a:p>
            <a:endParaRPr lang="es-AR" dirty="0"/>
          </a:p>
        </p:txBody>
      </p:sp>
      <p:sp>
        <p:nvSpPr>
          <p:cNvPr id="7" name="Rectangle 5"/>
          <p:cNvSpPr>
            <a:spLocks noGrp="1" noChangeArrowheads="1"/>
          </p:cNvSpPr>
          <p:nvPr>
            <p:ph type="ftr" sz="quarter" idx="11"/>
          </p:nvPr>
        </p:nvSpPr>
        <p:spPr/>
        <p:txBody>
          <a:bodyPr/>
          <a:lstStyle>
            <a:lvl1pPr algn="ctr">
              <a:spcBef>
                <a:spcPct val="50000"/>
              </a:spcBef>
              <a:defRPr sz="1400">
                <a:solidFill>
                  <a:schemeClr val="bg1"/>
                </a:solidFill>
                <a:latin typeface="Tahoma" pitchFamily="34" charset="0"/>
              </a:defRPr>
            </a:lvl1pPr>
          </a:lstStyle>
          <a:p>
            <a:r>
              <a:rPr lang="es-AR" smtClean="0"/>
              <a:t>DISEÑO DE SISTEMAS</a:t>
            </a:r>
            <a:endParaRPr lang="es-AR" dirty="0"/>
          </a:p>
        </p:txBody>
      </p:sp>
    </p:spTree>
    <p:extLst>
      <p:ext uri="{BB962C8B-B14F-4D97-AF65-F5344CB8AC3E}">
        <p14:creationId xmlns:p14="http://schemas.microsoft.com/office/powerpoint/2010/main" val="6267252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t>Qué</a:t>
            </a:r>
            <a:r>
              <a:rPr lang="en-US" dirty="0" smtClean="0"/>
              <a:t> </a:t>
            </a:r>
            <a:r>
              <a:rPr lang="en-US" dirty="0" err="1" smtClean="0"/>
              <a:t>es</a:t>
            </a:r>
            <a:r>
              <a:rPr lang="en-US" dirty="0" smtClean="0"/>
              <a:t> REST</a:t>
            </a:r>
          </a:p>
        </p:txBody>
      </p:sp>
      <p:sp>
        <p:nvSpPr>
          <p:cNvPr id="4" name="Marcador de contenido 3"/>
          <p:cNvSpPr>
            <a:spLocks noGrp="1"/>
          </p:cNvSpPr>
          <p:nvPr>
            <p:ph idx="1"/>
          </p:nvPr>
        </p:nvSpPr>
        <p:spPr>
          <a:xfrm>
            <a:off x="514351" y="2063396"/>
            <a:ext cx="7796030" cy="3311189"/>
          </a:xfrm>
          <a:prstGeom prst="rect">
            <a:avLst/>
          </a:prstGeom>
        </p:spPr>
        <p:txBody>
          <a:bodyPr>
            <a:normAutofit/>
          </a:bodyPr>
          <a:lstStyle/>
          <a:p>
            <a:pPr marL="342900" indent="-342900" fontAlgn="base">
              <a:spcBef>
                <a:spcPct val="20000"/>
              </a:spcBef>
              <a:spcAft>
                <a:spcPct val="0"/>
              </a:spcAft>
              <a:defRPr/>
            </a:pPr>
            <a:r>
              <a:rPr lang="es-AR" dirty="0">
                <a:latin typeface="Arial" panose="020B0604020202020204" pitchFamily="34" charset="0"/>
                <a:cs typeface="Arial" panose="020B0604020202020204" pitchFamily="34" charset="0"/>
              </a:rPr>
              <a:t>No se publican servicios RPC. En arquitecturas REST, los servicios no publican un conjunto arbitrario de métodos u operaciones. Por ejemplo, en REST no podemos publicar una interfaz “</a:t>
            </a:r>
            <a:r>
              <a:rPr lang="es-AR" dirty="0" err="1">
                <a:latin typeface="Arial" panose="020B0604020202020204" pitchFamily="34" charset="0"/>
                <a:cs typeface="Arial" panose="020B0604020202020204" pitchFamily="34" charset="0"/>
              </a:rPr>
              <a:t>IGestionEmpleados</a:t>
            </a:r>
            <a:r>
              <a:rPr lang="es-AR" dirty="0">
                <a:latin typeface="Arial" panose="020B0604020202020204" pitchFamily="34" charset="0"/>
                <a:cs typeface="Arial" panose="020B0604020202020204" pitchFamily="34" charset="0"/>
              </a:rPr>
              <a:t>” con métodos “</a:t>
            </a:r>
            <a:r>
              <a:rPr lang="es-AR" dirty="0" err="1">
                <a:latin typeface="Arial" panose="020B0604020202020204" pitchFamily="34" charset="0"/>
                <a:cs typeface="Arial" panose="020B0604020202020204" pitchFamily="34" charset="0"/>
              </a:rPr>
              <a:t>addEmpleado</a:t>
            </a:r>
            <a:r>
              <a:rPr lang="es-AR" dirty="0">
                <a:latin typeface="Arial" panose="020B0604020202020204" pitchFamily="34" charset="0"/>
                <a:cs typeface="Arial" panose="020B0604020202020204" pitchFamily="34" charset="0"/>
              </a:rPr>
              <a:t>”, “</a:t>
            </a:r>
            <a:r>
              <a:rPr lang="es-AR" dirty="0" err="1">
                <a:latin typeface="Arial" panose="020B0604020202020204" pitchFamily="34" charset="0"/>
                <a:cs typeface="Arial" panose="020B0604020202020204" pitchFamily="34" charset="0"/>
              </a:rPr>
              <a:t>removeEmpleado</a:t>
            </a:r>
            <a:r>
              <a:rPr lang="es-AR" dirty="0">
                <a:latin typeface="Arial" panose="020B0604020202020204" pitchFamily="34" charset="0"/>
                <a:cs typeface="Arial" panose="020B0604020202020204" pitchFamily="34" charset="0"/>
              </a:rPr>
              <a:t>” o “</a:t>
            </a:r>
            <a:r>
              <a:rPr lang="es-AR" dirty="0" err="1">
                <a:latin typeface="Arial" panose="020B0604020202020204" pitchFamily="34" charset="0"/>
                <a:cs typeface="Arial" panose="020B0604020202020204" pitchFamily="34" charset="0"/>
              </a:rPr>
              <a:t>buscarEmpleadosEnEdadDeJubilacion</a:t>
            </a:r>
            <a:r>
              <a:rPr lang="es-AR" dirty="0">
                <a:latin typeface="Arial" panose="020B0604020202020204" pitchFamily="34" charset="0"/>
                <a:cs typeface="Arial" panose="020B0604020202020204" pitchFamily="34" charset="0"/>
              </a:rPr>
              <a:t>”.</a:t>
            </a:r>
          </a:p>
          <a:p>
            <a:pPr marL="342900" indent="-342900" fontAlgn="base">
              <a:spcBef>
                <a:spcPct val="20000"/>
              </a:spcBef>
              <a:spcAft>
                <a:spcPct val="0"/>
              </a:spcAft>
              <a:defRPr/>
            </a:pPr>
            <a:endParaRPr lang="es-AR" dirty="0">
              <a:latin typeface="Arial" panose="020B0604020202020204" pitchFamily="34" charset="0"/>
              <a:cs typeface="Arial" panose="020B0604020202020204" pitchFamily="34" charset="0"/>
            </a:endParaRPr>
          </a:p>
          <a:p>
            <a:pPr marL="342900" indent="-342900" fontAlgn="base">
              <a:spcBef>
                <a:spcPct val="20000"/>
              </a:spcBef>
              <a:spcAft>
                <a:spcPct val="0"/>
              </a:spcAft>
              <a:defRPr/>
            </a:pPr>
            <a:r>
              <a:rPr lang="es-AR" dirty="0">
                <a:latin typeface="Arial" panose="020B0604020202020204" pitchFamily="34" charset="0"/>
                <a:cs typeface="Arial" panose="020B0604020202020204" pitchFamily="34" charset="0"/>
              </a:rPr>
              <a:t>En REST lo que se publica son </a:t>
            </a:r>
            <a:r>
              <a:rPr lang="es-AR" b="1" i="1" dirty="0">
                <a:latin typeface="Arial" panose="020B0604020202020204" pitchFamily="34" charset="0"/>
                <a:cs typeface="Arial" panose="020B0604020202020204" pitchFamily="34" charset="0"/>
              </a:rPr>
              <a:t>recursos</a:t>
            </a:r>
            <a:r>
              <a:rPr lang="es-AR" dirty="0">
                <a:latin typeface="Arial" panose="020B0604020202020204" pitchFamily="34" charset="0"/>
                <a:cs typeface="Arial" panose="020B0604020202020204" pitchFamily="34" charset="0"/>
              </a:rPr>
              <a:t>. Un recurso se puede considerar como una entidad que representa un concepto de negocio que puede ser accedido públicamente. Un ejemplo de recurso sería simplemente “</a:t>
            </a:r>
            <a:r>
              <a:rPr lang="es-AR" dirty="0" err="1">
                <a:latin typeface="Arial" panose="020B0604020202020204" pitchFamily="34" charset="0"/>
                <a:cs typeface="Arial" panose="020B0604020202020204" pitchFamily="34" charset="0"/>
              </a:rPr>
              <a:t>EmpleadosDeLaEmpresa</a:t>
            </a:r>
            <a:r>
              <a:rPr lang="es-AR" dirty="0">
                <a:latin typeface="Arial" panose="020B0604020202020204" pitchFamily="34" charset="0"/>
                <a:cs typeface="Arial" panose="020B0604020202020204" pitchFamily="34" charset="0"/>
              </a:rPr>
              <a:t>” y otro podría ser “Empleado número 33”.</a:t>
            </a:r>
            <a:r>
              <a:rPr lang="es-AR" dirty="0"/>
              <a:t>.</a:t>
            </a:r>
            <a:endParaRPr lang="es-AR" dirty="0">
              <a:latin typeface="Arial" panose="020B0604020202020204" pitchFamily="34" charset="0"/>
              <a:cs typeface="Arial" panose="020B0604020202020204" pitchFamily="34" charset="0"/>
            </a:endParaRPr>
          </a:p>
          <a:p>
            <a:endParaRPr lang="es-AR" dirty="0"/>
          </a:p>
        </p:txBody>
      </p:sp>
      <p:sp>
        <p:nvSpPr>
          <p:cNvPr id="7" name="Rectangle 5"/>
          <p:cNvSpPr>
            <a:spLocks noGrp="1" noChangeArrowheads="1"/>
          </p:cNvSpPr>
          <p:nvPr>
            <p:ph type="ftr" sz="quarter" idx="11"/>
          </p:nvPr>
        </p:nvSpPr>
        <p:spPr/>
        <p:txBody>
          <a:bodyPr/>
          <a:lstStyle>
            <a:lvl1pPr algn="ctr">
              <a:spcBef>
                <a:spcPct val="50000"/>
              </a:spcBef>
              <a:defRPr sz="1400">
                <a:solidFill>
                  <a:schemeClr val="bg1"/>
                </a:solidFill>
                <a:latin typeface="Tahoma" pitchFamily="34" charset="0"/>
              </a:defRPr>
            </a:lvl1pPr>
          </a:lstStyle>
          <a:p>
            <a:r>
              <a:rPr lang="es-AR" dirty="0" smtClean="0"/>
              <a:t>DISEÑO DE SISTEMAS</a:t>
            </a:r>
            <a:endParaRPr lang="es-AR" dirty="0"/>
          </a:p>
        </p:txBody>
      </p:sp>
    </p:spTree>
    <p:extLst>
      <p:ext uri="{BB962C8B-B14F-4D97-AF65-F5344CB8AC3E}">
        <p14:creationId xmlns:p14="http://schemas.microsoft.com/office/powerpoint/2010/main" val="11554441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t>Características</a:t>
            </a:r>
            <a:endParaRPr lang="en-US" dirty="0" smtClean="0"/>
          </a:p>
        </p:txBody>
      </p:sp>
      <p:sp>
        <p:nvSpPr>
          <p:cNvPr id="4" name="Marcador de contenido 3"/>
          <p:cNvSpPr>
            <a:spLocks noGrp="1"/>
          </p:cNvSpPr>
          <p:nvPr>
            <p:ph idx="1"/>
          </p:nvPr>
        </p:nvSpPr>
        <p:spPr>
          <a:xfrm>
            <a:off x="514351" y="2063396"/>
            <a:ext cx="7796030" cy="3311189"/>
          </a:xfrm>
          <a:prstGeom prst="rect">
            <a:avLst/>
          </a:prstGeom>
        </p:spPr>
        <p:txBody>
          <a:bodyPr>
            <a:normAutofit/>
          </a:bodyPr>
          <a:lstStyle/>
          <a:p>
            <a:pPr marL="342900" indent="-342900" fontAlgn="base">
              <a:spcBef>
                <a:spcPct val="20000"/>
              </a:spcBef>
              <a:spcAft>
                <a:spcPct val="0"/>
              </a:spcAft>
              <a:defRPr/>
            </a:pPr>
            <a:r>
              <a:rPr lang="es-AR" dirty="0">
                <a:latin typeface="Arial" panose="020B0604020202020204" pitchFamily="34" charset="0"/>
                <a:cs typeface="Arial" panose="020B0604020202020204" pitchFamily="34" charset="0"/>
              </a:rPr>
              <a:t>Cada recurso posee un estado interno, que no puede ser accedido directamente desde el exterior. Lo que sí es accesible desde el exterior es una o varias </a:t>
            </a:r>
            <a:r>
              <a:rPr lang="es-AR" b="1" i="1" dirty="0">
                <a:latin typeface="Arial" panose="020B0604020202020204" pitchFamily="34" charset="0"/>
                <a:cs typeface="Arial" panose="020B0604020202020204" pitchFamily="34" charset="0"/>
              </a:rPr>
              <a:t>representaciones</a:t>
            </a:r>
            <a:r>
              <a:rPr lang="es-AR" dirty="0">
                <a:latin typeface="Arial" panose="020B0604020202020204" pitchFamily="34" charset="0"/>
                <a:cs typeface="Arial" panose="020B0604020202020204" pitchFamily="34" charset="0"/>
              </a:rPr>
              <a:t> de dicho estado. </a:t>
            </a:r>
          </a:p>
          <a:p>
            <a:pPr marL="342900" indent="-342900" fontAlgn="base">
              <a:spcBef>
                <a:spcPct val="20000"/>
              </a:spcBef>
              <a:spcAft>
                <a:spcPct val="0"/>
              </a:spcAft>
              <a:defRPr/>
            </a:pPr>
            <a:r>
              <a:rPr lang="es-AR" dirty="0">
                <a:latin typeface="Arial" panose="020B0604020202020204" pitchFamily="34" charset="0"/>
                <a:cs typeface="Arial" panose="020B0604020202020204" pitchFamily="34" charset="0"/>
              </a:rPr>
              <a:t>La implementación del recurso decide que información es visible o no desde el exterior, y que representaciones de dicho estado se soportan. Una representación de “Empleado 33” podría ser un documento XML con la información accesible de este. Otra representación sería un documento HTML y otra podría ser un JSON.</a:t>
            </a:r>
          </a:p>
          <a:p>
            <a:pPr marL="342900" indent="-342900" fontAlgn="base">
              <a:spcBef>
                <a:spcPct val="20000"/>
              </a:spcBef>
              <a:spcAft>
                <a:spcPct val="0"/>
              </a:spcAft>
              <a:defRPr/>
            </a:pPr>
            <a:r>
              <a:rPr lang="es-AR" dirty="0">
                <a:latin typeface="Arial" panose="020B0604020202020204" pitchFamily="34" charset="0"/>
                <a:cs typeface="Arial" panose="020B0604020202020204" pitchFamily="34" charset="0"/>
              </a:rPr>
              <a:t>Podríamos pedir por ejemplo, una representación en formato imagen PNG del recurso, tal vez esto devolvería una foto del empleado, o un gráfico de su productividad o su huella dactilar.</a:t>
            </a:r>
          </a:p>
          <a:p>
            <a:endParaRPr lang="es-AR" dirty="0"/>
          </a:p>
        </p:txBody>
      </p:sp>
      <p:sp>
        <p:nvSpPr>
          <p:cNvPr id="7" name="Rectangle 5"/>
          <p:cNvSpPr>
            <a:spLocks noGrp="1" noChangeArrowheads="1"/>
          </p:cNvSpPr>
          <p:nvPr>
            <p:ph type="ftr" sz="quarter" idx="11"/>
          </p:nvPr>
        </p:nvSpPr>
        <p:spPr/>
        <p:txBody>
          <a:bodyPr/>
          <a:lstStyle>
            <a:lvl1pPr algn="ctr">
              <a:spcBef>
                <a:spcPct val="50000"/>
              </a:spcBef>
              <a:defRPr sz="1400">
                <a:solidFill>
                  <a:schemeClr val="bg1"/>
                </a:solidFill>
                <a:latin typeface="Tahoma" pitchFamily="34" charset="0"/>
              </a:defRPr>
            </a:lvl1pPr>
          </a:lstStyle>
          <a:p>
            <a:r>
              <a:rPr lang="es-AR" dirty="0" smtClean="0"/>
              <a:t>DISEÑO DE SISTEMAS</a:t>
            </a:r>
            <a:endParaRPr lang="es-AR" dirty="0"/>
          </a:p>
        </p:txBody>
      </p:sp>
      <p:sp>
        <p:nvSpPr>
          <p:cNvPr id="14" name="Rectangle 3"/>
          <p:cNvSpPr txBox="1">
            <a:spLocks noChangeArrowheads="1"/>
          </p:cNvSpPr>
          <p:nvPr/>
        </p:nvSpPr>
        <p:spPr bwMode="auto">
          <a:xfrm>
            <a:off x="1071538" y="1214422"/>
            <a:ext cx="6572296" cy="6429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fontAlgn="base">
              <a:spcBef>
                <a:spcPct val="20000"/>
              </a:spcBef>
              <a:spcAft>
                <a:spcPct val="0"/>
              </a:spcAft>
              <a:defRPr/>
            </a:pPr>
            <a:endParaRPr lang="es-AR" sz="1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920816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smtClean="0"/>
              <a:t>Cómo se usa</a:t>
            </a:r>
            <a:endParaRPr lang="en-US" dirty="0" smtClean="0"/>
          </a:p>
        </p:txBody>
      </p:sp>
      <p:sp>
        <p:nvSpPr>
          <p:cNvPr id="8" name="Marcador de contenido 7"/>
          <p:cNvSpPr>
            <a:spLocks noGrp="1"/>
          </p:cNvSpPr>
          <p:nvPr>
            <p:ph idx="1"/>
          </p:nvPr>
        </p:nvSpPr>
        <p:spPr>
          <a:xfrm>
            <a:off x="514351" y="2063396"/>
            <a:ext cx="7796030" cy="3311189"/>
          </a:xfrm>
          <a:prstGeom prst="rect">
            <a:avLst/>
          </a:prstGeom>
        </p:spPr>
        <p:txBody>
          <a:bodyPr>
            <a:normAutofit fontScale="92500" lnSpcReduction="20000"/>
          </a:bodyPr>
          <a:lstStyle/>
          <a:p>
            <a:r>
              <a:rPr lang="es-AR" dirty="0">
                <a:latin typeface="Arial" panose="020B0604020202020204" pitchFamily="34" charset="0"/>
                <a:cs typeface="Arial" panose="020B0604020202020204" pitchFamily="34" charset="0"/>
              </a:rPr>
              <a:t>Cada recurso tiene un identificador único global, que es su </a:t>
            </a:r>
            <a:r>
              <a:rPr lang="es-AR" b="1" i="1" dirty="0">
                <a:latin typeface="Arial" panose="020B0604020202020204" pitchFamily="34" charset="0"/>
                <a:cs typeface="Arial" panose="020B0604020202020204" pitchFamily="34" charset="0"/>
              </a:rPr>
              <a:t>URI</a:t>
            </a:r>
            <a:r>
              <a:rPr lang="es-AR" dirty="0">
                <a:latin typeface="Arial" panose="020B0604020202020204" pitchFamily="34" charset="0"/>
                <a:cs typeface="Arial" panose="020B0604020202020204" pitchFamily="34" charset="0"/>
              </a:rPr>
              <a:t> (o URL para los antiguos o IRI para los más modernos). Usando una URL podemos llegar a cualquier recurso en la web.</a:t>
            </a:r>
          </a:p>
          <a:p>
            <a:r>
              <a:rPr lang="es-AR" dirty="0" smtClean="0">
                <a:latin typeface="Arial" panose="020B0604020202020204" pitchFamily="34" charset="0"/>
                <a:cs typeface="Arial" panose="020B0604020202020204" pitchFamily="34" charset="0"/>
              </a:rPr>
              <a:t>Dada </a:t>
            </a:r>
            <a:r>
              <a:rPr lang="es-AR" dirty="0">
                <a:latin typeface="Arial" panose="020B0604020202020204" pitchFamily="34" charset="0"/>
                <a:cs typeface="Arial" panose="020B0604020202020204" pitchFamily="34" charset="0"/>
              </a:rPr>
              <a:t>una URI, y mediante el protocolo </a:t>
            </a:r>
            <a:r>
              <a:rPr lang="es-AR" b="1" i="1" dirty="0">
                <a:latin typeface="Arial" panose="020B0604020202020204" pitchFamily="34" charset="0"/>
                <a:cs typeface="Arial" panose="020B0604020202020204" pitchFamily="34" charset="0"/>
              </a:rPr>
              <a:t>HTTP</a:t>
            </a:r>
            <a:r>
              <a:rPr lang="es-AR" dirty="0">
                <a:latin typeface="Arial" panose="020B0604020202020204" pitchFamily="34" charset="0"/>
                <a:cs typeface="Arial" panose="020B0604020202020204" pitchFamily="34" charset="0"/>
              </a:rPr>
              <a:t>, podemos operar sobre estos recursos. La operación a realizar se especifica mediante el </a:t>
            </a:r>
            <a:r>
              <a:rPr lang="es-AR" b="1" i="1" dirty="0">
                <a:latin typeface="Arial" panose="020B0604020202020204" pitchFamily="34" charset="0"/>
                <a:cs typeface="Arial" panose="020B0604020202020204" pitchFamily="34" charset="0"/>
              </a:rPr>
              <a:t>verbo</a:t>
            </a:r>
            <a:r>
              <a:rPr lang="es-AR" dirty="0">
                <a:latin typeface="Arial" panose="020B0604020202020204" pitchFamily="34" charset="0"/>
                <a:cs typeface="Arial" panose="020B0604020202020204" pitchFamily="34" charset="0"/>
              </a:rPr>
              <a:t> HTTP. </a:t>
            </a:r>
          </a:p>
          <a:p>
            <a:pPr marL="800100" lvl="1" indent="-342900"/>
            <a:r>
              <a:rPr lang="es-AR" dirty="0">
                <a:latin typeface="Arial" panose="020B0604020202020204" pitchFamily="34" charset="0"/>
                <a:cs typeface="Arial" panose="020B0604020202020204" pitchFamily="34" charset="0"/>
              </a:rPr>
              <a:t>El verbo </a:t>
            </a:r>
            <a:r>
              <a:rPr lang="es-AR" b="1" dirty="0">
                <a:latin typeface="Arial" panose="020B0604020202020204" pitchFamily="34" charset="0"/>
                <a:cs typeface="Arial" panose="020B0604020202020204" pitchFamily="34" charset="0"/>
              </a:rPr>
              <a:t>GET</a:t>
            </a:r>
            <a:r>
              <a:rPr lang="es-AR" dirty="0">
                <a:latin typeface="Arial" panose="020B0604020202020204" pitchFamily="34" charset="0"/>
                <a:cs typeface="Arial" panose="020B0604020202020204" pitchFamily="34" charset="0"/>
              </a:rPr>
              <a:t> hace la operación READ.</a:t>
            </a:r>
          </a:p>
          <a:p>
            <a:pPr marL="800100" lvl="1" indent="-342900"/>
            <a:r>
              <a:rPr lang="es-AR" dirty="0">
                <a:latin typeface="Arial" panose="020B0604020202020204" pitchFamily="34" charset="0"/>
                <a:cs typeface="Arial" panose="020B0604020202020204" pitchFamily="34" charset="0"/>
              </a:rPr>
              <a:t>El verbo </a:t>
            </a:r>
            <a:r>
              <a:rPr lang="es-AR" b="1" dirty="0">
                <a:latin typeface="Arial" panose="020B0604020202020204" pitchFamily="34" charset="0"/>
                <a:cs typeface="Arial" panose="020B0604020202020204" pitchFamily="34" charset="0"/>
              </a:rPr>
              <a:t>DELETE</a:t>
            </a:r>
            <a:r>
              <a:rPr lang="es-AR" dirty="0">
                <a:latin typeface="Arial" panose="020B0604020202020204" pitchFamily="34" charset="0"/>
                <a:cs typeface="Arial" panose="020B0604020202020204" pitchFamily="34" charset="0"/>
              </a:rPr>
              <a:t> hace la operación DELETE.</a:t>
            </a:r>
          </a:p>
          <a:p>
            <a:pPr marL="800100" lvl="1" indent="-342900"/>
            <a:r>
              <a:rPr lang="es-AR" dirty="0">
                <a:latin typeface="Arial" panose="020B0604020202020204" pitchFamily="34" charset="0"/>
                <a:cs typeface="Arial" panose="020B0604020202020204" pitchFamily="34" charset="0"/>
              </a:rPr>
              <a:t>El verbo </a:t>
            </a:r>
            <a:r>
              <a:rPr lang="es-AR" b="1" dirty="0">
                <a:latin typeface="Arial" panose="020B0604020202020204" pitchFamily="34" charset="0"/>
                <a:cs typeface="Arial" panose="020B0604020202020204" pitchFamily="34" charset="0"/>
              </a:rPr>
              <a:t>PUT</a:t>
            </a:r>
            <a:r>
              <a:rPr lang="es-AR" dirty="0">
                <a:latin typeface="Arial" panose="020B0604020202020204" pitchFamily="34" charset="0"/>
                <a:cs typeface="Arial" panose="020B0604020202020204" pitchFamily="34" charset="0"/>
              </a:rPr>
              <a:t> se usa normalmente para hacer UPDATE</a:t>
            </a:r>
          </a:p>
          <a:p>
            <a:pPr marL="800100" lvl="1" indent="-342900"/>
            <a:r>
              <a:rPr lang="es-AR" dirty="0">
                <a:latin typeface="Arial" panose="020B0604020202020204" pitchFamily="34" charset="0"/>
                <a:cs typeface="Arial" panose="020B0604020202020204" pitchFamily="34" charset="0"/>
              </a:rPr>
              <a:t>El verbo </a:t>
            </a:r>
            <a:r>
              <a:rPr lang="es-AR" b="1" dirty="0">
                <a:latin typeface="Arial" panose="020B0604020202020204" pitchFamily="34" charset="0"/>
                <a:cs typeface="Arial" panose="020B0604020202020204" pitchFamily="34" charset="0"/>
              </a:rPr>
              <a:t>POST</a:t>
            </a:r>
            <a:r>
              <a:rPr lang="es-AR" dirty="0">
                <a:latin typeface="Arial" panose="020B0604020202020204" pitchFamily="34" charset="0"/>
                <a:cs typeface="Arial" panose="020B0604020202020204" pitchFamily="34" charset="0"/>
              </a:rPr>
              <a:t> se usa normalmente para hacer CREATE.</a:t>
            </a:r>
          </a:p>
          <a:p>
            <a:r>
              <a:rPr lang="es-AR" dirty="0" smtClean="0">
                <a:latin typeface="Arial" panose="020B0604020202020204" pitchFamily="34" charset="0"/>
                <a:cs typeface="Arial" panose="020B0604020202020204" pitchFamily="34" charset="0"/>
              </a:rPr>
              <a:t>Las </a:t>
            </a:r>
            <a:r>
              <a:rPr lang="es-AR" dirty="0">
                <a:latin typeface="Arial" panose="020B0604020202020204" pitchFamily="34" charset="0"/>
                <a:cs typeface="Arial" panose="020B0604020202020204" pitchFamily="34" charset="0"/>
              </a:rPr>
              <a:t>representaciones a usar se especifican mediante los llamados tipos mime. La mayoría de los tipos mime son estándares, como </a:t>
            </a:r>
            <a:r>
              <a:rPr lang="es-AR" dirty="0" err="1">
                <a:latin typeface="Arial" panose="020B0604020202020204" pitchFamily="34" charset="0"/>
                <a:cs typeface="Arial" panose="020B0604020202020204" pitchFamily="34" charset="0"/>
              </a:rPr>
              <a:t>xml</a:t>
            </a:r>
            <a:r>
              <a:rPr lang="es-AR" dirty="0">
                <a:latin typeface="Arial" panose="020B0604020202020204" pitchFamily="34" charset="0"/>
                <a:cs typeface="Arial" panose="020B0604020202020204" pitchFamily="34" charset="0"/>
              </a:rPr>
              <a:t> o </a:t>
            </a:r>
            <a:r>
              <a:rPr lang="es-AR" dirty="0" err="1">
                <a:latin typeface="Arial" panose="020B0604020202020204" pitchFamily="34" charset="0"/>
                <a:cs typeface="Arial" panose="020B0604020202020204" pitchFamily="34" charset="0"/>
              </a:rPr>
              <a:t>json</a:t>
            </a:r>
            <a:r>
              <a:rPr lang="es-AR" dirty="0">
                <a:latin typeface="Arial" panose="020B0604020202020204" pitchFamily="34" charset="0"/>
                <a:cs typeface="Arial" panose="020B0604020202020204" pitchFamily="34" charset="0"/>
              </a:rPr>
              <a:t>. El usar tipos mime estándar facilita la interoperabilidad.</a:t>
            </a:r>
          </a:p>
          <a:p>
            <a:endParaRPr lang="es-AR" dirty="0"/>
          </a:p>
        </p:txBody>
      </p:sp>
      <p:sp>
        <p:nvSpPr>
          <p:cNvPr id="11" name="Rectangle 5"/>
          <p:cNvSpPr>
            <a:spLocks noGrp="1" noChangeArrowheads="1"/>
          </p:cNvSpPr>
          <p:nvPr>
            <p:ph type="ftr" sz="quarter" idx="11"/>
          </p:nvPr>
        </p:nvSpPr>
        <p:spPr>
          <a:xfrm>
            <a:off x="514351" y="5757334"/>
            <a:ext cx="7153993" cy="498470"/>
          </a:xfrm>
        </p:spPr>
        <p:txBody>
          <a:bodyPr/>
          <a:lstStyle>
            <a:lvl1pPr algn="ctr">
              <a:spcBef>
                <a:spcPct val="50000"/>
              </a:spcBef>
              <a:defRPr sz="1400">
                <a:solidFill>
                  <a:schemeClr val="bg1"/>
                </a:solidFill>
                <a:latin typeface="Tahoma" pitchFamily="34" charset="0"/>
              </a:defRPr>
            </a:lvl1pPr>
          </a:lstStyle>
          <a:p>
            <a:r>
              <a:rPr lang="es-AR" dirty="0" smtClean="0"/>
              <a:t>DISEÑO DE SISTEMAS</a:t>
            </a:r>
            <a:endParaRPr lang="es-AR" dirty="0"/>
          </a:p>
        </p:txBody>
      </p:sp>
      <p:sp>
        <p:nvSpPr>
          <p:cNvPr id="14" name="Rectangle 3"/>
          <p:cNvSpPr txBox="1">
            <a:spLocks noChangeArrowheads="1"/>
          </p:cNvSpPr>
          <p:nvPr/>
        </p:nvSpPr>
        <p:spPr bwMode="auto">
          <a:xfrm>
            <a:off x="1071538" y="1214422"/>
            <a:ext cx="6572296" cy="6429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s-AR" sz="16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44341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t>Estructura</a:t>
            </a:r>
            <a:r>
              <a:rPr lang="en-US" dirty="0" smtClean="0"/>
              <a:t> de la URI</a:t>
            </a:r>
          </a:p>
        </p:txBody>
      </p:sp>
      <p:sp>
        <p:nvSpPr>
          <p:cNvPr id="4" name="Marcador de contenido 3"/>
          <p:cNvSpPr>
            <a:spLocks noGrp="1"/>
          </p:cNvSpPr>
          <p:nvPr>
            <p:ph idx="1"/>
          </p:nvPr>
        </p:nvSpPr>
        <p:spPr>
          <a:xfrm>
            <a:off x="514351" y="2063396"/>
            <a:ext cx="7796030" cy="3311189"/>
          </a:xfrm>
          <a:prstGeom prst="rect">
            <a:avLst/>
          </a:prstGeom>
        </p:spPr>
        <p:txBody>
          <a:bodyPr>
            <a:normAutofit fontScale="85000" lnSpcReduction="20000"/>
          </a:bodyPr>
          <a:lstStyle/>
          <a:p>
            <a:endParaRPr lang="es-AR"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rPr>
              <a:t>{protocolo}://{dominio o </a:t>
            </a:r>
            <a:r>
              <a:rPr lang="es-AR" dirty="0" err="1">
                <a:latin typeface="Arial" panose="020B0604020202020204" pitchFamily="34" charset="0"/>
                <a:cs typeface="Arial" panose="020B0604020202020204" pitchFamily="34" charset="0"/>
              </a:rPr>
              <a:t>hostname</a:t>
            </a:r>
            <a:r>
              <a:rPr lang="es-AR" dirty="0">
                <a:latin typeface="Arial" panose="020B0604020202020204" pitchFamily="34" charset="0"/>
                <a:cs typeface="Arial" panose="020B0604020202020204" pitchFamily="34" charset="0"/>
              </a:rPr>
              <a:t>}[:puerto (opcional)]/{ruta del recurso}?{consulta de filtrado}</a:t>
            </a:r>
          </a:p>
          <a:p>
            <a:r>
              <a:rPr lang="es-AR" dirty="0" smtClean="0">
                <a:latin typeface="Arial" panose="020B0604020202020204" pitchFamily="34" charset="0"/>
                <a:cs typeface="Arial" panose="020B0604020202020204" pitchFamily="34" charset="0"/>
              </a:rPr>
              <a:t>La </a:t>
            </a:r>
            <a:r>
              <a:rPr lang="es-AR" dirty="0">
                <a:latin typeface="Arial" panose="020B0604020202020204" pitchFamily="34" charset="0"/>
                <a:cs typeface="Arial" panose="020B0604020202020204" pitchFamily="34" charset="0"/>
              </a:rPr>
              <a:t>URI </a:t>
            </a:r>
            <a:r>
              <a:rPr lang="es-AR" i="1" dirty="0">
                <a:latin typeface="Arial" panose="020B0604020202020204" pitchFamily="34" charset="0"/>
                <a:cs typeface="Arial" panose="020B0604020202020204" pitchFamily="34" charset="0"/>
              </a:rPr>
              <a:t>/facturas/234/editar</a:t>
            </a:r>
            <a:r>
              <a:rPr lang="es-AR" dirty="0">
                <a:latin typeface="Arial" panose="020B0604020202020204" pitchFamily="34" charset="0"/>
                <a:cs typeface="Arial" panose="020B0604020202020204" pitchFamily="34" charset="0"/>
              </a:rPr>
              <a:t> sería incorrecta ya que tenemos el verbo editar en la misma.</a:t>
            </a:r>
          </a:p>
          <a:p>
            <a:pPr marL="0" indent="0">
              <a:buNone/>
            </a:pPr>
            <a:r>
              <a:rPr lang="es-AR" dirty="0">
                <a:latin typeface="Arial" panose="020B0604020202020204" pitchFamily="34" charset="0"/>
                <a:cs typeface="Arial" panose="020B0604020202020204" pitchFamily="34" charset="0"/>
              </a:rPr>
              <a:t>Correcta: /facturas/234</a:t>
            </a:r>
          </a:p>
          <a:p>
            <a:r>
              <a:rPr lang="es-AR" dirty="0" smtClean="0">
                <a:latin typeface="Arial" panose="020B0604020202020204" pitchFamily="34" charset="0"/>
                <a:cs typeface="Arial" panose="020B0604020202020204" pitchFamily="34" charset="0"/>
              </a:rPr>
              <a:t>La </a:t>
            </a:r>
            <a:r>
              <a:rPr lang="es-AR" dirty="0">
                <a:latin typeface="Arial" panose="020B0604020202020204" pitchFamily="34" charset="0"/>
                <a:cs typeface="Arial" panose="020B0604020202020204" pitchFamily="34" charset="0"/>
              </a:rPr>
              <a:t>URI /facturas/234.pdf no sería una URI correcta, ya que estamos indicando la extensión </a:t>
            </a:r>
            <a:r>
              <a:rPr lang="es-AR" dirty="0" err="1">
                <a:latin typeface="Arial" panose="020B0604020202020204" pitchFamily="34" charset="0"/>
                <a:cs typeface="Arial" panose="020B0604020202020204" pitchFamily="34" charset="0"/>
              </a:rPr>
              <a:t>pdf</a:t>
            </a:r>
            <a:r>
              <a:rPr lang="es-AR" dirty="0">
                <a:latin typeface="Arial" panose="020B0604020202020204" pitchFamily="34" charset="0"/>
                <a:cs typeface="Arial" panose="020B0604020202020204" pitchFamily="34" charset="0"/>
              </a:rPr>
              <a:t> en la misma.</a:t>
            </a:r>
          </a:p>
          <a:p>
            <a:pPr marL="0" indent="0">
              <a:buNone/>
            </a:pPr>
            <a:r>
              <a:rPr lang="es-AR" dirty="0">
                <a:latin typeface="Arial" panose="020B0604020202020204" pitchFamily="34" charset="0"/>
                <a:cs typeface="Arial" panose="020B0604020202020204" pitchFamily="34" charset="0"/>
              </a:rPr>
              <a:t>Correcta: /facturas/234</a:t>
            </a:r>
          </a:p>
          <a:p>
            <a:r>
              <a:rPr lang="es-AR" dirty="0" smtClean="0">
                <a:latin typeface="Arial" panose="020B0604020202020204" pitchFamily="34" charset="0"/>
                <a:cs typeface="Arial" panose="020B0604020202020204" pitchFamily="34" charset="0"/>
              </a:rPr>
              <a:t>La </a:t>
            </a:r>
            <a:r>
              <a:rPr lang="es-AR" dirty="0">
                <a:latin typeface="Arial" panose="020B0604020202020204" pitchFamily="34" charset="0"/>
                <a:cs typeface="Arial" panose="020B0604020202020204" pitchFamily="34" charset="0"/>
              </a:rPr>
              <a:t>URI /facturas/234/cliente/007 no sería una URI correcta, ya que no sigue una jerarquía lógica.</a:t>
            </a:r>
          </a:p>
          <a:p>
            <a:pPr marL="0" indent="0">
              <a:buNone/>
            </a:pPr>
            <a:r>
              <a:rPr lang="es-AR" dirty="0">
                <a:latin typeface="Arial" panose="020B0604020202020204" pitchFamily="34" charset="0"/>
                <a:cs typeface="Arial" panose="020B0604020202020204" pitchFamily="34" charset="0"/>
              </a:rPr>
              <a:t>Correcta: /clientes/007/facturas/234</a:t>
            </a:r>
          </a:p>
          <a:p>
            <a:endParaRPr lang="es-AR" dirty="0"/>
          </a:p>
        </p:txBody>
      </p:sp>
      <p:sp>
        <p:nvSpPr>
          <p:cNvPr id="8" name="Rectangle 5"/>
          <p:cNvSpPr>
            <a:spLocks noGrp="1" noChangeArrowheads="1"/>
          </p:cNvSpPr>
          <p:nvPr>
            <p:ph type="ftr" sz="quarter" idx="11"/>
          </p:nvPr>
        </p:nvSpPr>
        <p:spPr>
          <a:xfrm>
            <a:off x="514351" y="5757334"/>
            <a:ext cx="7153993" cy="498470"/>
          </a:xfrm>
        </p:spPr>
        <p:txBody>
          <a:bodyPr/>
          <a:lstStyle>
            <a:lvl1pPr algn="ctr">
              <a:spcBef>
                <a:spcPct val="50000"/>
              </a:spcBef>
              <a:defRPr sz="1400">
                <a:solidFill>
                  <a:schemeClr val="bg1"/>
                </a:solidFill>
                <a:latin typeface="Tahoma" pitchFamily="34" charset="0"/>
              </a:defRPr>
            </a:lvl1pPr>
          </a:lstStyle>
          <a:p>
            <a:r>
              <a:rPr lang="es-AR" dirty="0" smtClean="0"/>
              <a:t>DISEÑO DE SISTEMAS</a:t>
            </a:r>
            <a:endParaRPr lang="es-AR" dirty="0"/>
          </a:p>
        </p:txBody>
      </p:sp>
      <p:sp>
        <p:nvSpPr>
          <p:cNvPr id="14" name="Rectangle 3"/>
          <p:cNvSpPr txBox="1">
            <a:spLocks noChangeArrowheads="1"/>
          </p:cNvSpPr>
          <p:nvPr/>
        </p:nvSpPr>
        <p:spPr bwMode="auto">
          <a:xfrm>
            <a:off x="1071538" y="1214422"/>
            <a:ext cx="6572296" cy="6429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s-AR"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13787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t>Ejemplo</a:t>
            </a:r>
            <a:r>
              <a:rPr lang="en-US" dirty="0" smtClean="0"/>
              <a:t> REST</a:t>
            </a:r>
          </a:p>
        </p:txBody>
      </p:sp>
      <p:sp>
        <p:nvSpPr>
          <p:cNvPr id="4" name="Marcador de contenido 3"/>
          <p:cNvSpPr>
            <a:spLocks noGrp="1"/>
          </p:cNvSpPr>
          <p:nvPr>
            <p:ph idx="1"/>
          </p:nvPr>
        </p:nvSpPr>
        <p:spPr>
          <a:xfrm>
            <a:off x="514351" y="1700808"/>
            <a:ext cx="7796030" cy="3311189"/>
          </a:xfrm>
          <a:prstGeom prst="rect">
            <a:avLst/>
          </a:prstGeom>
        </p:spPr>
        <p:txBody>
          <a:bodyPr>
            <a:normAutofit/>
          </a:bodyPr>
          <a:lstStyle/>
          <a:p>
            <a:endParaRPr lang="es-AR" dirty="0">
              <a:latin typeface="Arial" panose="020B0604020202020204" pitchFamily="34" charset="0"/>
              <a:cs typeface="Arial" panose="020B0604020202020204" pitchFamily="34" charset="0"/>
            </a:endParaRPr>
          </a:p>
          <a:p>
            <a:r>
              <a:rPr lang="es-AR" dirty="0">
                <a:latin typeface="Arial" panose="020B0604020202020204" pitchFamily="34" charset="0"/>
                <a:cs typeface="Arial" panose="020B0604020202020204" pitchFamily="34" charset="0"/>
                <a:hlinkClick r:id="rId3"/>
              </a:rPr>
              <a:t>http://developers.mercadolibre.com/order-management</a:t>
            </a:r>
            <a:r>
              <a:rPr lang="es-AR" dirty="0" smtClean="0">
                <a:latin typeface="Arial" panose="020B0604020202020204" pitchFamily="34" charset="0"/>
                <a:cs typeface="Arial" panose="020B0604020202020204" pitchFamily="34" charset="0"/>
                <a:hlinkClick r:id="rId3"/>
              </a:rPr>
              <a:t>/</a:t>
            </a:r>
            <a:endParaRPr lang="es-AR" dirty="0" smtClean="0">
              <a:latin typeface="Arial" panose="020B0604020202020204" pitchFamily="34" charset="0"/>
              <a:cs typeface="Arial" panose="020B0604020202020204" pitchFamily="34" charset="0"/>
            </a:endParaRPr>
          </a:p>
          <a:p>
            <a:endParaRPr lang="es-AR" dirty="0"/>
          </a:p>
        </p:txBody>
      </p:sp>
      <p:sp>
        <p:nvSpPr>
          <p:cNvPr id="8" name="Rectangle 5"/>
          <p:cNvSpPr>
            <a:spLocks noGrp="1" noChangeArrowheads="1"/>
          </p:cNvSpPr>
          <p:nvPr>
            <p:ph type="ftr" sz="quarter" idx="11"/>
          </p:nvPr>
        </p:nvSpPr>
        <p:spPr>
          <a:xfrm>
            <a:off x="514351" y="5757334"/>
            <a:ext cx="7153993" cy="498470"/>
          </a:xfrm>
        </p:spPr>
        <p:txBody>
          <a:bodyPr/>
          <a:lstStyle>
            <a:lvl1pPr algn="ctr">
              <a:spcBef>
                <a:spcPct val="50000"/>
              </a:spcBef>
              <a:defRPr sz="1400">
                <a:solidFill>
                  <a:schemeClr val="bg1"/>
                </a:solidFill>
                <a:latin typeface="Tahoma" pitchFamily="34" charset="0"/>
              </a:defRPr>
            </a:lvl1pPr>
          </a:lstStyle>
          <a:p>
            <a:r>
              <a:rPr lang="es-AR" dirty="0" smtClean="0"/>
              <a:t>DISEÑO DE SISTEMAS</a:t>
            </a:r>
            <a:endParaRPr lang="es-AR" dirty="0"/>
          </a:p>
        </p:txBody>
      </p:sp>
      <p:sp>
        <p:nvSpPr>
          <p:cNvPr id="14" name="Rectangle 3"/>
          <p:cNvSpPr txBox="1">
            <a:spLocks noChangeArrowheads="1"/>
          </p:cNvSpPr>
          <p:nvPr/>
        </p:nvSpPr>
        <p:spPr bwMode="auto">
          <a:xfrm>
            <a:off x="1071538" y="1214422"/>
            <a:ext cx="6572296" cy="6429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s-AR" sz="1600" dirty="0">
              <a:latin typeface="Arial" panose="020B0604020202020204" pitchFamily="34" charset="0"/>
              <a:cs typeface="Arial" panose="020B0604020202020204" pitchFamily="34" charset="0"/>
            </a:endParaRPr>
          </a:p>
        </p:txBody>
      </p:sp>
      <p:pic>
        <p:nvPicPr>
          <p:cNvPr id="2" name="Imagen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1538" y="2980253"/>
            <a:ext cx="7092280" cy="3275551"/>
          </a:xfrm>
          <a:prstGeom prst="rect">
            <a:avLst/>
          </a:prstGeom>
        </p:spPr>
      </p:pic>
    </p:spTree>
    <p:extLst>
      <p:ext uri="{BB962C8B-B14F-4D97-AF65-F5344CB8AC3E}">
        <p14:creationId xmlns:p14="http://schemas.microsoft.com/office/powerpoint/2010/main" val="41892496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err="1" smtClean="0"/>
              <a:t>Ejemplo</a:t>
            </a:r>
            <a:r>
              <a:rPr lang="en-US" dirty="0" smtClean="0"/>
              <a:t> REST</a:t>
            </a:r>
          </a:p>
        </p:txBody>
      </p:sp>
      <p:pic>
        <p:nvPicPr>
          <p:cNvPr id="3" name="Marcador de contenido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83316" y="2063750"/>
            <a:ext cx="5858280" cy="3311525"/>
          </a:xfrm>
          <a:prstGeom prst="rect">
            <a:avLst/>
          </a:prstGeom>
        </p:spPr>
      </p:pic>
      <p:sp>
        <p:nvSpPr>
          <p:cNvPr id="8" name="Rectangle 5"/>
          <p:cNvSpPr>
            <a:spLocks noGrp="1" noChangeArrowheads="1"/>
          </p:cNvSpPr>
          <p:nvPr>
            <p:ph type="ftr" sz="quarter" idx="11"/>
          </p:nvPr>
        </p:nvSpPr>
        <p:spPr>
          <a:xfrm>
            <a:off x="514351" y="5757334"/>
            <a:ext cx="7153993" cy="498470"/>
          </a:xfrm>
        </p:spPr>
        <p:txBody>
          <a:bodyPr/>
          <a:lstStyle>
            <a:lvl1pPr algn="ctr">
              <a:spcBef>
                <a:spcPct val="50000"/>
              </a:spcBef>
              <a:defRPr sz="1400">
                <a:solidFill>
                  <a:schemeClr val="bg1"/>
                </a:solidFill>
                <a:latin typeface="Tahoma" pitchFamily="34" charset="0"/>
              </a:defRPr>
            </a:lvl1pPr>
          </a:lstStyle>
          <a:p>
            <a:r>
              <a:rPr lang="es-AR" dirty="0" smtClean="0"/>
              <a:t>DISEÑO DE SISTEMAS</a:t>
            </a:r>
            <a:endParaRPr lang="es-AR" dirty="0"/>
          </a:p>
        </p:txBody>
      </p:sp>
    </p:spTree>
    <p:extLst>
      <p:ext uri="{BB962C8B-B14F-4D97-AF65-F5344CB8AC3E}">
        <p14:creationId xmlns:p14="http://schemas.microsoft.com/office/powerpoint/2010/main" val="273412089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Probemos XHR Poster </a:t>
            </a:r>
            <a:r>
              <a:rPr lang="es-AR" dirty="0" err="1" smtClean="0"/>
              <a:t>Chrome</a:t>
            </a:r>
            <a:endParaRPr lang="es-AR" dirty="0"/>
          </a:p>
        </p:txBody>
      </p:sp>
      <p:sp>
        <p:nvSpPr>
          <p:cNvPr id="3" name="Marcador de contenido 2"/>
          <p:cNvSpPr>
            <a:spLocks noGrp="1"/>
          </p:cNvSpPr>
          <p:nvPr>
            <p:ph idx="1"/>
          </p:nvPr>
        </p:nvSpPr>
        <p:spPr>
          <a:xfrm>
            <a:off x="514351" y="2063396"/>
            <a:ext cx="7796030" cy="3311189"/>
          </a:xfrm>
          <a:prstGeom prst="rect">
            <a:avLst/>
          </a:prstGeom>
        </p:spPr>
        <p:txBody>
          <a:bodyPr/>
          <a:lstStyle/>
          <a:p>
            <a:r>
              <a:rPr lang="es-AR" dirty="0" smtClean="0"/>
              <a:t>Ver </a:t>
            </a:r>
            <a:r>
              <a:rPr lang="es-AR" dirty="0" err="1" smtClean="0"/>
              <a:t>Advanced</a:t>
            </a:r>
            <a:r>
              <a:rPr lang="es-AR" dirty="0" smtClean="0"/>
              <a:t> REST </a:t>
            </a:r>
            <a:r>
              <a:rPr lang="es-AR" dirty="0" err="1" smtClean="0"/>
              <a:t>Client</a:t>
            </a:r>
            <a:r>
              <a:rPr lang="es-AR" dirty="0" smtClean="0"/>
              <a:t> para </a:t>
            </a:r>
            <a:r>
              <a:rPr lang="es-AR" dirty="0" err="1" smtClean="0"/>
              <a:t>Chrome</a:t>
            </a:r>
            <a:endParaRPr lang="es-AR" dirty="0" smtClean="0"/>
          </a:p>
          <a:p>
            <a:pPr lvl="0"/>
            <a:r>
              <a:rPr lang="es-AR" dirty="0" smtClean="0"/>
              <a:t>Ejemplo:  </a:t>
            </a:r>
            <a:r>
              <a:rPr lang="es-AR" dirty="0">
                <a:solidFill>
                  <a:srgbClr val="4A4A4A"/>
                </a:solidFill>
                <a:latin typeface="Courier 10 Pitch"/>
              </a:rPr>
              <a:t>https://api.mercadolibre.com/countries/UY</a:t>
            </a:r>
            <a:r>
              <a:rPr lang="es-AR" sz="1800" dirty="0"/>
              <a:t> </a:t>
            </a:r>
            <a:endParaRPr lang="es-AR" sz="1800" dirty="0" smtClean="0"/>
          </a:p>
          <a:p>
            <a:pPr lvl="0"/>
            <a:endParaRPr lang="es-AR" sz="1800" dirty="0">
              <a:latin typeface="Arial" panose="020B0604020202020204" pitchFamily="34" charset="0"/>
            </a:endParaRPr>
          </a:p>
          <a:p>
            <a:pPr lvl="0"/>
            <a:r>
              <a:rPr lang="es-AR" sz="1800" dirty="0" smtClean="0">
                <a:latin typeface="Arial" panose="020B0604020202020204" pitchFamily="34" charset="0"/>
              </a:rPr>
              <a:t>Complemento </a:t>
            </a:r>
            <a:r>
              <a:rPr lang="es-AR" sz="1800" dirty="0">
                <a:latin typeface="Arial" panose="020B0604020202020204" pitchFamily="34" charset="0"/>
              </a:rPr>
              <a:t>para Mozilla: https://addons.mozilla.org/es/firefox/addon/poster/</a:t>
            </a:r>
            <a:endParaRPr lang="es-AR" sz="4800" dirty="0">
              <a:latin typeface="Arial" panose="020B0604020202020204" pitchFamily="34" charset="0"/>
            </a:endParaRPr>
          </a:p>
          <a:p>
            <a:endParaRPr lang="es-AR" dirty="0"/>
          </a:p>
        </p:txBody>
      </p:sp>
      <p:sp>
        <p:nvSpPr>
          <p:cNvPr id="4" name="Marcador de número de diapositiva 3"/>
          <p:cNvSpPr>
            <a:spLocks noGrp="1"/>
          </p:cNvSpPr>
          <p:nvPr>
            <p:ph type="sldNum" sz="quarter" idx="12"/>
          </p:nvPr>
        </p:nvSpPr>
        <p:spPr/>
        <p:txBody>
          <a:bodyPr/>
          <a:lstStyle/>
          <a:p>
            <a:pPr>
              <a:defRPr/>
            </a:pPr>
            <a:fld id="{0BC77640-C8A3-4987-B4D8-0AE8AEED414C}" type="slidenum">
              <a:rPr lang="es-ES" altLang="es-AR" smtClean="0"/>
              <a:pPr>
                <a:defRPr/>
              </a:pPr>
              <a:t>31</a:t>
            </a:fld>
            <a:endParaRPr lang="es-ES" altLang="es-AR" dirty="0"/>
          </a:p>
        </p:txBody>
      </p:sp>
    </p:spTree>
    <p:extLst>
      <p:ext uri="{BB962C8B-B14F-4D97-AF65-F5344CB8AC3E}">
        <p14:creationId xmlns:p14="http://schemas.microsoft.com/office/powerpoint/2010/main" val="417581158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Ejemplo Servicio REST que retorna una imagen</a:t>
            </a:r>
            <a:endParaRPr lang="es-AR" dirty="0"/>
          </a:p>
        </p:txBody>
      </p:sp>
      <p:sp>
        <p:nvSpPr>
          <p:cNvPr id="3" name="Marcador de contenido 2"/>
          <p:cNvSpPr>
            <a:spLocks noGrp="1"/>
          </p:cNvSpPr>
          <p:nvPr>
            <p:ph idx="1"/>
          </p:nvPr>
        </p:nvSpPr>
        <p:spPr>
          <a:xfrm>
            <a:off x="514351" y="2063396"/>
            <a:ext cx="7796030" cy="3311189"/>
          </a:xfrm>
          <a:prstGeom prst="rect">
            <a:avLst/>
          </a:prstGeom>
        </p:spPr>
        <p:txBody>
          <a:bodyPr/>
          <a:lstStyle/>
          <a:p>
            <a:r>
              <a:rPr lang="es-AR" dirty="0"/>
              <a:t>http://maps.google.com/maps/api/staticmap?mobile=true&amp;size=360x255&amp;maptype=roadmap&amp;sensor=false&amp;markers=icon:http://bit.ly/ifQgqf|-0.281798,-78.534363</a:t>
            </a:r>
          </a:p>
        </p:txBody>
      </p:sp>
      <p:sp>
        <p:nvSpPr>
          <p:cNvPr id="4" name="Marcador de número de diapositiva 3"/>
          <p:cNvSpPr>
            <a:spLocks noGrp="1"/>
          </p:cNvSpPr>
          <p:nvPr>
            <p:ph type="sldNum" sz="quarter" idx="12"/>
          </p:nvPr>
        </p:nvSpPr>
        <p:spPr/>
        <p:txBody>
          <a:bodyPr/>
          <a:lstStyle/>
          <a:p>
            <a:pPr>
              <a:defRPr/>
            </a:pPr>
            <a:fld id="{0BC77640-C8A3-4987-B4D8-0AE8AEED414C}" type="slidenum">
              <a:rPr lang="es-ES" altLang="es-AR" smtClean="0"/>
              <a:pPr>
                <a:defRPr/>
              </a:pPr>
              <a:t>32</a:t>
            </a:fld>
            <a:endParaRPr lang="es-ES" altLang="es-AR" dirty="0"/>
          </a:p>
        </p:txBody>
      </p:sp>
    </p:spTree>
    <p:extLst>
      <p:ext uri="{BB962C8B-B14F-4D97-AF65-F5344CB8AC3E}">
        <p14:creationId xmlns:p14="http://schemas.microsoft.com/office/powerpoint/2010/main" val="372664114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Desarrollar Servicio Web</a:t>
            </a:r>
            <a:endParaRPr lang="es-AR" dirty="0"/>
          </a:p>
        </p:txBody>
      </p:sp>
      <p:sp>
        <p:nvSpPr>
          <p:cNvPr id="3" name="Marcador de contenido 2"/>
          <p:cNvSpPr>
            <a:spLocks noGrp="1"/>
          </p:cNvSpPr>
          <p:nvPr>
            <p:ph idx="1"/>
          </p:nvPr>
        </p:nvSpPr>
        <p:spPr>
          <a:xfrm>
            <a:off x="514351" y="2063396"/>
            <a:ext cx="7796030" cy="3311189"/>
          </a:xfrm>
          <a:prstGeom prst="rect">
            <a:avLst/>
          </a:prstGeom>
        </p:spPr>
        <p:txBody>
          <a:bodyPr/>
          <a:lstStyle/>
          <a:p>
            <a:r>
              <a:rPr lang="es-AR" dirty="0" smtClean="0"/>
              <a:t>Ejemplo Java: </a:t>
            </a:r>
            <a:r>
              <a:rPr lang="es-AR" dirty="0" smtClean="0">
                <a:hlinkClick r:id="rId2"/>
              </a:rPr>
              <a:t>http</a:t>
            </a:r>
            <a:r>
              <a:rPr lang="es-AR" dirty="0">
                <a:hlinkClick r:id="rId2"/>
              </a:rPr>
              <a:t>://</a:t>
            </a:r>
            <a:r>
              <a:rPr lang="es-AR" dirty="0" smtClean="0">
                <a:hlinkClick r:id="rId2"/>
              </a:rPr>
              <a:t>elblogdepicodev.blogspot.com.ar/2013/02/cliente-javascript-y-java-de-servicio-web-resteasy.html</a:t>
            </a:r>
            <a:endParaRPr lang="es-AR" dirty="0" smtClean="0"/>
          </a:p>
          <a:p>
            <a:r>
              <a:rPr lang="es-AR" dirty="0"/>
              <a:t>Ejemplo Java: </a:t>
            </a:r>
            <a:r>
              <a:rPr lang="es-AR" dirty="0">
                <a:hlinkClick r:id="rId3"/>
              </a:rPr>
              <a:t>http://</a:t>
            </a:r>
            <a:r>
              <a:rPr lang="es-AR" dirty="0" smtClean="0">
                <a:hlinkClick r:id="rId3"/>
              </a:rPr>
              <a:t>elblogdepicodev.blogspot.com.ar/2013/02/devolver-xml-json-o-html-con-resteasy.html</a:t>
            </a:r>
            <a:endParaRPr lang="es-AR" dirty="0" smtClean="0"/>
          </a:p>
          <a:p>
            <a:endParaRPr lang="es-AR" dirty="0"/>
          </a:p>
        </p:txBody>
      </p:sp>
      <p:sp>
        <p:nvSpPr>
          <p:cNvPr id="4" name="Marcador de número de diapositiva 3"/>
          <p:cNvSpPr>
            <a:spLocks noGrp="1"/>
          </p:cNvSpPr>
          <p:nvPr>
            <p:ph type="sldNum" sz="quarter" idx="12"/>
          </p:nvPr>
        </p:nvSpPr>
        <p:spPr/>
        <p:txBody>
          <a:bodyPr/>
          <a:lstStyle/>
          <a:p>
            <a:pPr>
              <a:defRPr/>
            </a:pPr>
            <a:fld id="{0BC77640-C8A3-4987-B4D8-0AE8AEED414C}" type="slidenum">
              <a:rPr lang="es-ES" altLang="es-AR" smtClean="0"/>
              <a:pPr>
                <a:defRPr/>
              </a:pPr>
              <a:t>33</a:t>
            </a:fld>
            <a:endParaRPr lang="es-ES" altLang="es-AR" dirty="0"/>
          </a:p>
        </p:txBody>
      </p:sp>
    </p:spTree>
    <p:extLst>
      <p:ext uri="{BB962C8B-B14F-4D97-AF65-F5344CB8AC3E}">
        <p14:creationId xmlns:p14="http://schemas.microsoft.com/office/powerpoint/2010/main" val="278550661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2"/>
          <p:cNvSpPr>
            <a:spLocks noGrp="1" noChangeArrowheads="1"/>
          </p:cNvSpPr>
          <p:nvPr>
            <p:ph type="ctrTitle"/>
          </p:nvPr>
        </p:nvSpPr>
        <p:spPr/>
        <p:txBody>
          <a:bodyPr/>
          <a:lstStyle/>
          <a:p>
            <a:r>
              <a:rPr lang="es-ES_tradnl" dirty="0" smtClean="0"/>
              <a:t>SOA</a:t>
            </a:r>
            <a:endParaRPr lang="es-ES" dirty="0"/>
          </a:p>
        </p:txBody>
      </p:sp>
      <p:sp>
        <p:nvSpPr>
          <p:cNvPr id="39939" name="Rectangle 3"/>
          <p:cNvSpPr>
            <a:spLocks noGrp="1" noChangeArrowheads="1"/>
          </p:cNvSpPr>
          <p:nvPr>
            <p:ph type="subTitle" idx="1"/>
          </p:nvPr>
        </p:nvSpPr>
        <p:spPr/>
        <p:txBody>
          <a:bodyPr/>
          <a:lstStyle/>
          <a:p>
            <a:endParaRPr lang="es-AR" dirty="0"/>
          </a:p>
        </p:txBody>
      </p:sp>
    </p:spTree>
    <p:extLst>
      <p:ext uri="{BB962C8B-B14F-4D97-AF65-F5344CB8AC3E}">
        <p14:creationId xmlns:p14="http://schemas.microsoft.com/office/powerpoint/2010/main" val="292308808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s-ES" smtClean="0"/>
              <a:t>Qué es SOA</a:t>
            </a:r>
            <a:endParaRPr lang="en-US" dirty="0" smtClean="0"/>
          </a:p>
        </p:txBody>
      </p:sp>
      <p:sp>
        <p:nvSpPr>
          <p:cNvPr id="4" name="Marcador de contenido 3"/>
          <p:cNvSpPr>
            <a:spLocks noGrp="1"/>
          </p:cNvSpPr>
          <p:nvPr>
            <p:ph idx="1"/>
          </p:nvPr>
        </p:nvSpPr>
        <p:spPr/>
        <p:txBody>
          <a:bodyPr>
            <a:normAutofit fontScale="92500" lnSpcReduction="10000"/>
          </a:bodyPr>
          <a:lstStyle/>
          <a:p>
            <a:pPr lvl="0"/>
            <a:r>
              <a:rPr lang="es-ES" smtClean="0"/>
              <a:t>Forma de desarrollar sistemas distribuidos donde los componentes son servicios independientes.</a:t>
            </a:r>
          </a:p>
          <a:p>
            <a:pPr lvl="0"/>
            <a:r>
              <a:rPr lang="es-ES" smtClean="0"/>
              <a:t>Servicio: componente de software de reutilización que ofrece cierta funcionalidad y a la que se accede de manera programática.</a:t>
            </a:r>
          </a:p>
          <a:p>
            <a:pPr lvl="0"/>
            <a:r>
              <a:rPr lang="es-ES" smtClean="0"/>
              <a:t>Servicio vs. Componente tradicional</a:t>
            </a:r>
          </a:p>
          <a:p>
            <a:pPr lvl="1"/>
            <a:r>
              <a:rPr lang="es-ES" smtClean="0"/>
              <a:t>Es independiente</a:t>
            </a:r>
          </a:p>
          <a:p>
            <a:pPr lvl="1"/>
            <a:r>
              <a:rPr lang="es-ES" smtClean="0"/>
              <a:t>Sus interfaces permiten el acceso a la funcionalidad del servicio</a:t>
            </a:r>
          </a:p>
          <a:p>
            <a:pPr lvl="0"/>
            <a:r>
              <a:rPr lang="es-ES" smtClean="0"/>
              <a:t>Servicios pueden ejecutarse en computadoras distribuidas geográficamente</a:t>
            </a:r>
          </a:p>
          <a:p>
            <a:pPr lvl="0"/>
            <a:r>
              <a:rPr lang="es-ES" smtClean="0"/>
              <a:t>Protocolos estándares se diseñaron para apoyar la comunicación y el intercambio de información</a:t>
            </a:r>
          </a:p>
          <a:p>
            <a:endParaRPr lang="es-AR" dirty="0"/>
          </a:p>
        </p:txBody>
      </p:sp>
    </p:spTree>
    <p:extLst>
      <p:ext uri="{BB962C8B-B14F-4D97-AF65-F5344CB8AC3E}">
        <p14:creationId xmlns:p14="http://schemas.microsoft.com/office/powerpoint/2010/main" val="157953521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s-ES" smtClean="0"/>
              <a:t>Características</a:t>
            </a:r>
            <a:endParaRPr lang="en-US" dirty="0" smtClean="0"/>
          </a:p>
        </p:txBody>
      </p:sp>
      <p:sp>
        <p:nvSpPr>
          <p:cNvPr id="4" name="Marcador de contenido 3"/>
          <p:cNvSpPr>
            <a:spLocks noGrp="1"/>
          </p:cNvSpPr>
          <p:nvPr>
            <p:ph idx="1"/>
          </p:nvPr>
        </p:nvSpPr>
        <p:spPr/>
        <p:txBody>
          <a:bodyPr>
            <a:normAutofit fontScale="85000" lnSpcReduction="10000"/>
          </a:bodyPr>
          <a:lstStyle/>
          <a:p>
            <a:r>
              <a:rPr lang="es-ES" smtClean="0"/>
              <a:t>Los servicios son independientes del lenguaje y de la plataforma</a:t>
            </a:r>
          </a:p>
          <a:p>
            <a:r>
              <a:rPr lang="es-ES" smtClean="0"/>
              <a:t>El software puede construirse al componer servicios locales y externos de diferentes proveedores</a:t>
            </a:r>
          </a:p>
          <a:p>
            <a:pPr lvl="0"/>
            <a:r>
              <a:rPr lang="es-ES" smtClean="0"/>
              <a:t>La provisión del servicio es independiente de la aplicación que utiliza el servicio</a:t>
            </a:r>
          </a:p>
          <a:p>
            <a:r>
              <a:rPr lang="es-ES" smtClean="0"/>
              <a:t>No es necesario decidir cuando se programa o despliega el sistema, que proveedor de servicio se debe elegir o en que servicios específicos se debe ingresar</a:t>
            </a:r>
          </a:p>
          <a:p>
            <a:r>
              <a:rPr lang="es-ES" smtClean="0"/>
              <a:t>Los servicios pueden ser proporcionados localmente o subcontratan a proveedores externos</a:t>
            </a:r>
          </a:p>
          <a:p>
            <a:r>
              <a:rPr lang="es-ES" smtClean="0"/>
              <a:t>Computing Inter-organizacional se facilita a través de intercambio de información simplificada</a:t>
            </a:r>
          </a:p>
          <a:p>
            <a:r>
              <a:rPr lang="es-ES" smtClean="0"/>
              <a:t>Los proveedores pueden desarrollar servicios especializados y ofrecerlos a usuarios de servicios de diferentes organizaciones</a:t>
            </a:r>
            <a:endParaRPr lang="es-AR" dirty="0"/>
          </a:p>
        </p:txBody>
      </p:sp>
    </p:spTree>
    <p:extLst>
      <p:ext uri="{BB962C8B-B14F-4D97-AF65-F5344CB8AC3E}">
        <p14:creationId xmlns:p14="http://schemas.microsoft.com/office/powerpoint/2010/main" val="2670424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s-ES" smtClean="0"/>
              <a:t>Ejemplo</a:t>
            </a:r>
            <a:endParaRPr lang="en-US" dirty="0" smtClean="0"/>
          </a:p>
        </p:txBody>
      </p:sp>
      <p:sp>
        <p:nvSpPr>
          <p:cNvPr id="4" name="Marcador de contenido 3"/>
          <p:cNvSpPr>
            <a:spLocks noGrp="1"/>
          </p:cNvSpPr>
          <p:nvPr>
            <p:ph idx="1"/>
          </p:nvPr>
        </p:nvSpPr>
        <p:spPr/>
        <p:txBody>
          <a:bodyPr/>
          <a:lstStyle/>
          <a:p>
            <a:pPr lvl="0"/>
            <a:r>
              <a:rPr lang="es-ES" smtClean="0"/>
              <a:t>Sistema de Información del Auto</a:t>
            </a:r>
          </a:p>
          <a:p>
            <a:r>
              <a:rPr lang="es-ES" smtClean="0"/>
              <a:t>Un sistema de información en el automóvil proporciona a los conductores con información sobre el clima, las condiciones del tráfico, información local, etc Esto está vinculado a la radio del coche para que la información se entrega como una señal en un canal de radio específico.</a:t>
            </a:r>
          </a:p>
          <a:p>
            <a:r>
              <a:rPr lang="es-ES" smtClean="0"/>
              <a:t>El vehículo está equipado con un receptor de GPS para descubrir su posición y, sobre la base de esa posición, el sistema accede a una amplia gama de servicios de información. La información puede ser entregada en el idioma especificado del conductor.</a:t>
            </a:r>
            <a:endParaRPr lang="es-AR" dirty="0"/>
          </a:p>
        </p:txBody>
      </p:sp>
    </p:spTree>
    <p:extLst>
      <p:ext uri="{BB962C8B-B14F-4D97-AF65-F5344CB8AC3E}">
        <p14:creationId xmlns:p14="http://schemas.microsoft.com/office/powerpoint/2010/main" val="267399221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s-ES" smtClean="0"/>
              <a:t>Ejemplo</a:t>
            </a:r>
            <a:endParaRPr lang="en-US" dirty="0" smtClean="0"/>
          </a:p>
        </p:txBody>
      </p:sp>
      <p:pic>
        <p:nvPicPr>
          <p:cNvPr id="8" name="Content Placeholder 4" descr="19.3 In_CarInfo_System.eps"/>
          <p:cNvPicPr>
            <a:picLocks noGrp="1" noChangeAspect="1"/>
          </p:cNvPicPr>
          <p:nvPr>
            <p:ph idx="1"/>
          </p:nvPr>
        </p:nvPicPr>
        <p:blipFill>
          <a:blip r:embed="rId3" cstate="print"/>
          <a:stretch>
            <a:fillRect/>
          </a:stretch>
        </p:blipFill>
        <p:spPr>
          <a:xfrm>
            <a:off x="1741612" y="2160588"/>
            <a:ext cx="4084388" cy="3881437"/>
          </a:xfrm>
        </p:spPr>
      </p:pic>
    </p:spTree>
    <p:extLst>
      <p:ext uri="{BB962C8B-B14F-4D97-AF65-F5344CB8AC3E}">
        <p14:creationId xmlns:p14="http://schemas.microsoft.com/office/powerpoint/2010/main" val="300164604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s-ES" dirty="0" smtClean="0"/>
              <a:t>SOA vs Servicios Web</a:t>
            </a:r>
            <a:endParaRPr lang="en-US" dirty="0" smtClean="0"/>
          </a:p>
        </p:txBody>
      </p:sp>
      <p:sp>
        <p:nvSpPr>
          <p:cNvPr id="4" name="Marcador de contenido 3"/>
          <p:cNvSpPr>
            <a:spLocks noGrp="1"/>
          </p:cNvSpPr>
          <p:nvPr>
            <p:ph idx="1"/>
          </p:nvPr>
        </p:nvSpPr>
        <p:spPr/>
        <p:txBody>
          <a:bodyPr>
            <a:normAutofit/>
          </a:bodyPr>
          <a:lstStyle/>
          <a:p>
            <a:r>
              <a:rPr lang="es-AR" dirty="0" smtClean="0"/>
              <a:t>Con </a:t>
            </a:r>
            <a:r>
              <a:rPr lang="es-AR" dirty="0"/>
              <a:t>SOA, toda la infraestructura de tecnologías de la información (TI) presenta sus funcionalidades como servicios que ofrecen un claro valor de negocio</a:t>
            </a:r>
          </a:p>
          <a:p>
            <a:r>
              <a:rPr lang="es-AR" dirty="0" smtClean="0"/>
              <a:t>SOA involucra servicios web</a:t>
            </a:r>
          </a:p>
          <a:p>
            <a:r>
              <a:rPr lang="es-AR" dirty="0" smtClean="0"/>
              <a:t>Pero un servicio web puede ser utilizado en otro estilo arquitectónico</a:t>
            </a:r>
          </a:p>
        </p:txBody>
      </p:sp>
    </p:spTree>
    <p:extLst>
      <p:ext uri="{BB962C8B-B14F-4D97-AF65-F5344CB8AC3E}">
        <p14:creationId xmlns:p14="http://schemas.microsoft.com/office/powerpoint/2010/main" val="422688535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SOA vs Componentes</a:t>
            </a:r>
            <a:endParaRPr lang="es-AR" dirty="0"/>
          </a:p>
        </p:txBody>
      </p:sp>
      <p:sp>
        <p:nvSpPr>
          <p:cNvPr id="3" name="Marcador de contenido 2"/>
          <p:cNvSpPr>
            <a:spLocks noGrp="1"/>
          </p:cNvSpPr>
          <p:nvPr>
            <p:ph idx="1"/>
          </p:nvPr>
        </p:nvSpPr>
        <p:spPr/>
        <p:txBody>
          <a:bodyPr>
            <a:normAutofit/>
          </a:bodyPr>
          <a:lstStyle/>
          <a:p>
            <a:r>
              <a:rPr lang="es-AR" dirty="0" smtClean="0"/>
              <a:t>No </a:t>
            </a:r>
            <a:r>
              <a:rPr lang="es-AR" dirty="0"/>
              <a:t>toda entidad que posea interfaz, lógica y ofrezca una funcionalidad es un </a:t>
            </a:r>
            <a:r>
              <a:rPr lang="es-AR" dirty="0" smtClean="0"/>
              <a:t>servicio</a:t>
            </a:r>
            <a:endParaRPr lang="es-AR" dirty="0"/>
          </a:p>
          <a:p>
            <a:r>
              <a:rPr lang="es-AR" dirty="0" smtClean="0"/>
              <a:t>Servicios </a:t>
            </a:r>
            <a:r>
              <a:rPr lang="es-AR" dirty="0"/>
              <a:t>manejan conceptos de negocio (↑ nivel abstracción, ↓ granularidad)</a:t>
            </a:r>
          </a:p>
          <a:p>
            <a:r>
              <a:rPr lang="es-AR" dirty="0" smtClean="0"/>
              <a:t>Servicios </a:t>
            </a:r>
            <a:r>
              <a:rPr lang="es-AR" dirty="0"/>
              <a:t>accesibles por protocolos abiertos e independientes de la implementación</a:t>
            </a:r>
          </a:p>
          <a:p>
            <a:r>
              <a:rPr lang="es-AR" dirty="0" smtClean="0"/>
              <a:t>Servicios </a:t>
            </a:r>
            <a:r>
              <a:rPr lang="es-AR" dirty="0"/>
              <a:t>están menos acoplados que los componentes</a:t>
            </a:r>
          </a:p>
          <a:p>
            <a:r>
              <a:rPr lang="es-AR" dirty="0" smtClean="0"/>
              <a:t>Servicios </a:t>
            </a:r>
            <a:r>
              <a:rPr lang="es-AR" dirty="0"/>
              <a:t>con mayor grado de autonomía (tienen sentido incluso de forma aislada)</a:t>
            </a:r>
          </a:p>
          <a:p>
            <a:r>
              <a:rPr lang="es-AR" dirty="0" smtClean="0"/>
              <a:t>Servicios </a:t>
            </a:r>
            <a:r>
              <a:rPr lang="es-AR" dirty="0"/>
              <a:t>tienen sus propias políticas de escalabilidad, seguridad, </a:t>
            </a:r>
            <a:r>
              <a:rPr lang="es-AR" dirty="0" smtClean="0"/>
              <a:t>tolerancia </a:t>
            </a:r>
            <a:r>
              <a:rPr lang="es-AR" dirty="0"/>
              <a:t>a fallos, etc.</a:t>
            </a:r>
          </a:p>
          <a:p>
            <a:endParaRPr lang="es-AR" dirty="0"/>
          </a:p>
        </p:txBody>
      </p:sp>
    </p:spTree>
    <p:extLst>
      <p:ext uri="{BB962C8B-B14F-4D97-AF65-F5344CB8AC3E}">
        <p14:creationId xmlns:p14="http://schemas.microsoft.com/office/powerpoint/2010/main" val="159919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s-ES" smtClean="0"/>
              <a:t>Estándares SOA</a:t>
            </a:r>
            <a:endParaRPr lang="en-US" dirty="0" smtClean="0"/>
          </a:p>
        </p:txBody>
      </p:sp>
      <p:sp>
        <p:nvSpPr>
          <p:cNvPr id="4" name="Marcador de contenido 3"/>
          <p:cNvSpPr>
            <a:spLocks noGrp="1"/>
          </p:cNvSpPr>
          <p:nvPr>
            <p:ph idx="1"/>
          </p:nvPr>
        </p:nvSpPr>
        <p:spPr/>
        <p:txBody>
          <a:bodyPr>
            <a:normAutofit lnSpcReduction="10000"/>
          </a:bodyPr>
          <a:lstStyle/>
          <a:p>
            <a:r>
              <a:rPr lang="es-ES" smtClean="0"/>
              <a:t>SOAP. </a:t>
            </a:r>
            <a:r>
              <a:rPr lang="es" smtClean="0"/>
              <a:t>Simple Object Access Protocol es un protocolo de mensajería para el intercambio de información entre sistemas. A diferencia de otros estándares de comunicación por mensajes (CORBA, RMI) se basa en documentos XML, por lo que resulta independiente de la tecnología y la plataforma (lenguaje, sistema operativo) subyacente</a:t>
            </a:r>
            <a:endParaRPr lang="es-ES" smtClean="0"/>
          </a:p>
          <a:p>
            <a:pPr lvl="0"/>
            <a:r>
              <a:rPr lang="es-ES" smtClean="0"/>
              <a:t>WSDL. </a:t>
            </a:r>
            <a:r>
              <a:rPr lang="es" smtClean="0"/>
              <a:t>Web Services Definition Language es un lenguaje XML para describir los servicios en la arquitectura SOA.</a:t>
            </a:r>
            <a:endParaRPr lang="es-ES" smtClean="0"/>
          </a:p>
          <a:p>
            <a:pPr lvl="0"/>
            <a:r>
              <a:rPr lang="es-ES" smtClean="0"/>
              <a:t>UDDI. </a:t>
            </a:r>
            <a:r>
              <a:rPr lang="es" smtClean="0"/>
              <a:t>Universal Description, Discovery and Integration define los mecanismos para publicar (catalogar) servicios en un registro, y para que sus consumidores puedan buscarlos y encontrar su localización física</a:t>
            </a:r>
            <a:endParaRPr lang="es-ES" dirty="0" smtClean="0"/>
          </a:p>
        </p:txBody>
      </p:sp>
    </p:spTree>
    <p:extLst>
      <p:ext uri="{BB962C8B-B14F-4D97-AF65-F5344CB8AC3E}">
        <p14:creationId xmlns:p14="http://schemas.microsoft.com/office/powerpoint/2010/main" val="320404976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endParaRPr lang="es-AR"/>
          </a:p>
        </p:txBody>
      </p:sp>
      <p:sp>
        <p:nvSpPr>
          <p:cNvPr id="2" name="1 Marcador de contenido"/>
          <p:cNvSpPr>
            <a:spLocks noGrp="1"/>
          </p:cNvSpPr>
          <p:nvPr>
            <p:ph idx="1"/>
          </p:nvPr>
        </p:nvSpPr>
        <p:spPr/>
        <p:txBody>
          <a:bodyPr/>
          <a:lstStyle/>
          <a:p>
            <a:endParaRPr lang="es-AR"/>
          </a:p>
        </p:txBody>
      </p:sp>
      <p:sp>
        <p:nvSpPr>
          <p:cNvPr id="4" name="3 Rectángulo"/>
          <p:cNvSpPr/>
          <p:nvPr/>
        </p:nvSpPr>
        <p:spPr>
          <a:xfrm>
            <a:off x="3928234" y="2967335"/>
            <a:ext cx="1287532" cy="923330"/>
          </a:xfrm>
          <a:prstGeom prst="rect">
            <a:avLst/>
          </a:prstGeom>
          <a:noFill/>
        </p:spPr>
        <p:txBody>
          <a:bodyPr wrap="none" lIns="91440" tIns="45720" rIns="91440" bIns="45720">
            <a:spAutoFit/>
          </a:bodyPr>
          <a:lstStyle/>
          <a:p>
            <a:pPr algn="ctr"/>
            <a:r>
              <a:rPr lang="es-ES" sz="5400" b="1"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FIN</a:t>
            </a:r>
            <a:endParaRPr lang="es-ES" sz="5400" b="1" cap="none" spc="0"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outerShdw blurRad="41275" dist="12700" dir="12000000" algn="tl" rotWithShape="0">
                  <a:srgbClr val="000000">
                    <a:alpha val="40000"/>
                  </a:srgbClr>
                </a:outerShdw>
              </a:effectLst>
            </a:endParaRPr>
          </a:p>
        </p:txBody>
      </p:sp>
    </p:spTree>
    <p:extLst>
      <p:ext uri="{BB962C8B-B14F-4D97-AF65-F5344CB8AC3E}">
        <p14:creationId xmlns:p14="http://schemas.microsoft.com/office/powerpoint/2010/main" val="4253679635"/>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a">
  <a:themeElements>
    <a:clrScheme name="Verde amarillo">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3021</TotalTime>
  <Words>2320</Words>
  <Application>Microsoft Office PowerPoint</Application>
  <PresentationFormat>Presentación en pantalla (4:3)</PresentationFormat>
  <Paragraphs>203</Paragraphs>
  <Slides>42</Slides>
  <Notes>19</Notes>
  <HiddenSlides>0</HiddenSlides>
  <MMClips>0</MMClips>
  <ScaleCrop>false</ScaleCrop>
  <HeadingPairs>
    <vt:vector size="8" baseType="variant">
      <vt:variant>
        <vt:lpstr>Fuentes usadas</vt:lpstr>
      </vt:variant>
      <vt:variant>
        <vt:i4>8</vt:i4>
      </vt:variant>
      <vt:variant>
        <vt:lpstr>Tema</vt:lpstr>
      </vt:variant>
      <vt:variant>
        <vt:i4>1</vt:i4>
      </vt:variant>
      <vt:variant>
        <vt:lpstr>Servidores OLE incrustados</vt:lpstr>
      </vt:variant>
      <vt:variant>
        <vt:i4>1</vt:i4>
      </vt:variant>
      <vt:variant>
        <vt:lpstr>Títulos de diapositiva</vt:lpstr>
      </vt:variant>
      <vt:variant>
        <vt:i4>42</vt:i4>
      </vt:variant>
    </vt:vector>
  </HeadingPairs>
  <TitlesOfParts>
    <vt:vector size="52" baseType="lpstr">
      <vt:lpstr>Arial</vt:lpstr>
      <vt:lpstr>Calibri</vt:lpstr>
      <vt:lpstr>Courier 10 Pitch</vt:lpstr>
      <vt:lpstr>Tahoma</vt:lpstr>
      <vt:lpstr>Times New Roman</vt:lpstr>
      <vt:lpstr>Trebuchet MS</vt:lpstr>
      <vt:lpstr>Wingdings</vt:lpstr>
      <vt:lpstr>Wingdings 3</vt:lpstr>
      <vt:lpstr>Faceta</vt:lpstr>
      <vt:lpstr>Hoja de cálculo</vt:lpstr>
      <vt:lpstr>Arquitectura orientada a servicios (SOA)</vt:lpstr>
      <vt:lpstr>TEMARIO</vt:lpstr>
      <vt:lpstr>Desarrollo de software basado en componentes (CBSE)</vt:lpstr>
      <vt:lpstr>Desarrollo de software basado en componentes</vt:lpstr>
      <vt:lpstr>CBSE. Componentes.</vt:lpstr>
      <vt:lpstr>CBSE. Ventajas.</vt:lpstr>
      <vt:lpstr>SERVICIOS web</vt:lpstr>
      <vt:lpstr>Servicios Web</vt:lpstr>
      <vt:lpstr>SOA vs Servicios Web</vt:lpstr>
      <vt:lpstr>Ejemplo WS</vt:lpstr>
      <vt:lpstr>MICROSERVICIOS</vt:lpstr>
      <vt:lpstr>Microservicios</vt:lpstr>
      <vt:lpstr>Microservicios</vt:lpstr>
      <vt:lpstr>ESTILOS DE COMUNICACIÓN</vt:lpstr>
      <vt:lpstr>Servidores con o sin estado</vt:lpstr>
      <vt:lpstr>STALESS</vt:lpstr>
      <vt:lpstr>STALESS</vt:lpstr>
      <vt:lpstr>STATEFUL</vt:lpstr>
      <vt:lpstr>Un ejemplo con servidor de archivos</vt:lpstr>
      <vt:lpstr>Un ejemplo con servidor de archivos</vt:lpstr>
      <vt:lpstr>Un ejemplo con servidor de archivos</vt:lpstr>
      <vt:lpstr>Un ejemplo con servidor de archivos</vt:lpstr>
      <vt:lpstr>SERVICIOS REST</vt:lpstr>
      <vt:lpstr>Qué es REST</vt:lpstr>
      <vt:lpstr>Qué es REST</vt:lpstr>
      <vt:lpstr>Características</vt:lpstr>
      <vt:lpstr>Cómo se usa</vt:lpstr>
      <vt:lpstr>Estructura de la URI</vt:lpstr>
      <vt:lpstr>Ejemplo REST</vt:lpstr>
      <vt:lpstr>Ejemplo REST</vt:lpstr>
      <vt:lpstr>Probemos XHR Poster Chrome</vt:lpstr>
      <vt:lpstr>Ejemplo Servicio REST que retorna una imagen</vt:lpstr>
      <vt:lpstr>Desarrollar Servicio Web</vt:lpstr>
      <vt:lpstr>SOA</vt:lpstr>
      <vt:lpstr>Qué es SOA</vt:lpstr>
      <vt:lpstr>Características</vt:lpstr>
      <vt:lpstr>Ejemplo</vt:lpstr>
      <vt:lpstr>Ejemplo</vt:lpstr>
      <vt:lpstr>SOA vs Servicios Web</vt:lpstr>
      <vt:lpstr>SOA vs Componentes</vt:lpstr>
      <vt:lpstr>Estándares SOA</vt:lpstr>
      <vt:lpstr>Presentación de PowerPoint</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Luciano Straccia</dc:creator>
  <cp:lastModifiedBy>Monica</cp:lastModifiedBy>
  <cp:revision>31</cp:revision>
  <dcterms:created xsi:type="dcterms:W3CDTF">2017-01-26T19:08:35Z</dcterms:created>
  <dcterms:modified xsi:type="dcterms:W3CDTF">2022-04-28T18:07:47Z</dcterms:modified>
</cp:coreProperties>
</file>